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89"/>
  </p:notesMasterIdLst>
  <p:handoutMasterIdLst>
    <p:handoutMasterId r:id="rId90"/>
  </p:handoutMasterIdLst>
  <p:sldIdLst>
    <p:sldId id="334" r:id="rId5"/>
    <p:sldId id="316" r:id="rId6"/>
    <p:sldId id="331" r:id="rId7"/>
    <p:sldId id="409" r:id="rId8"/>
    <p:sldId id="350" r:id="rId9"/>
    <p:sldId id="351" r:id="rId10"/>
    <p:sldId id="352" r:id="rId11"/>
    <p:sldId id="412" r:id="rId12"/>
    <p:sldId id="410" r:id="rId13"/>
    <p:sldId id="413" r:id="rId14"/>
    <p:sldId id="414" r:id="rId15"/>
    <p:sldId id="415" r:id="rId16"/>
    <p:sldId id="416"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417" r:id="rId30"/>
    <p:sldId id="365" r:id="rId31"/>
    <p:sldId id="367" r:id="rId32"/>
    <p:sldId id="418" r:id="rId33"/>
    <p:sldId id="419" r:id="rId34"/>
    <p:sldId id="420" r:id="rId35"/>
    <p:sldId id="421" r:id="rId36"/>
    <p:sldId id="366" r:id="rId37"/>
    <p:sldId id="368" r:id="rId38"/>
    <p:sldId id="369" r:id="rId39"/>
    <p:sldId id="422" r:id="rId40"/>
    <p:sldId id="370" r:id="rId41"/>
    <p:sldId id="371" r:id="rId42"/>
    <p:sldId id="372" r:id="rId43"/>
    <p:sldId id="374" r:id="rId44"/>
    <p:sldId id="373" r:id="rId45"/>
    <p:sldId id="375" r:id="rId46"/>
    <p:sldId id="376" r:id="rId47"/>
    <p:sldId id="377" r:id="rId48"/>
    <p:sldId id="378" r:id="rId49"/>
    <p:sldId id="380" r:id="rId50"/>
    <p:sldId id="383" r:id="rId51"/>
    <p:sldId id="384" r:id="rId52"/>
    <p:sldId id="385" r:id="rId53"/>
    <p:sldId id="386" r:id="rId54"/>
    <p:sldId id="388" r:id="rId55"/>
    <p:sldId id="387" r:id="rId56"/>
    <p:sldId id="389" r:id="rId57"/>
    <p:sldId id="424" r:id="rId58"/>
    <p:sldId id="390" r:id="rId59"/>
    <p:sldId id="425" r:id="rId60"/>
    <p:sldId id="423" r:id="rId61"/>
    <p:sldId id="391" r:id="rId62"/>
    <p:sldId id="392" r:id="rId63"/>
    <p:sldId id="394" r:id="rId64"/>
    <p:sldId id="393" r:id="rId65"/>
    <p:sldId id="427" r:id="rId66"/>
    <p:sldId id="426" r:id="rId67"/>
    <p:sldId id="428" r:id="rId68"/>
    <p:sldId id="429" r:id="rId69"/>
    <p:sldId id="430" r:id="rId70"/>
    <p:sldId id="431" r:id="rId71"/>
    <p:sldId id="432" r:id="rId72"/>
    <p:sldId id="433" r:id="rId73"/>
    <p:sldId id="434" r:id="rId74"/>
    <p:sldId id="435" r:id="rId75"/>
    <p:sldId id="436" r:id="rId76"/>
    <p:sldId id="438" r:id="rId77"/>
    <p:sldId id="440" r:id="rId78"/>
    <p:sldId id="439" r:id="rId79"/>
    <p:sldId id="441" r:id="rId80"/>
    <p:sldId id="442" r:id="rId81"/>
    <p:sldId id="443" r:id="rId82"/>
    <p:sldId id="444" r:id="rId83"/>
    <p:sldId id="437" r:id="rId84"/>
    <p:sldId id="445" r:id="rId85"/>
    <p:sldId id="446" r:id="rId86"/>
    <p:sldId id="447" r:id="rId87"/>
    <p:sldId id="448"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90" autoAdjust="0"/>
    <p:restoredTop sz="84967" autoAdjust="0"/>
  </p:normalViewPr>
  <p:slideViewPr>
    <p:cSldViewPr snapToGrid="0">
      <p:cViewPr varScale="1">
        <p:scale>
          <a:sx n="63" d="100"/>
          <a:sy n="63" d="100"/>
        </p:scale>
        <p:origin x="808" y="160"/>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handoutMaster" Target="handoutMasters/handoutMaster1.xml"/><Relationship Id="rId95" Type="http://schemas.microsoft.com/office/2018/10/relationships/authors" Targe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11/24/2024</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11/24/2024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3466773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3912167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3775683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a:t>
            </a:fld>
            <a:endParaRPr lang="en-US" dirty="0"/>
          </a:p>
        </p:txBody>
      </p:sp>
    </p:spTree>
    <p:extLst>
      <p:ext uri="{BB962C8B-B14F-4D97-AF65-F5344CB8AC3E}">
        <p14:creationId xmlns:p14="http://schemas.microsoft.com/office/powerpoint/2010/main" val="3326141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389157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63509-432D-92F5-3E09-CE58AA9F0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B4825-1517-4417-D42F-E12447EDFB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BEC3A-CBF8-E5EB-411C-D10E0E8D8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D7939E-0DB7-EF16-D6FF-8AE231124871}"/>
              </a:ext>
            </a:extLst>
          </p:cNvPr>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2879969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14</a:t>
            </a:fld>
            <a:endParaRPr lang="en-US" dirty="0"/>
          </a:p>
        </p:txBody>
      </p:sp>
    </p:spTree>
    <p:extLst>
      <p:ext uri="{BB962C8B-B14F-4D97-AF65-F5344CB8AC3E}">
        <p14:creationId xmlns:p14="http://schemas.microsoft.com/office/powerpoint/2010/main" val="3804117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15</a:t>
            </a:fld>
            <a:endParaRPr lang="en-US" dirty="0"/>
          </a:p>
        </p:txBody>
      </p:sp>
    </p:spTree>
    <p:extLst>
      <p:ext uri="{BB962C8B-B14F-4D97-AF65-F5344CB8AC3E}">
        <p14:creationId xmlns:p14="http://schemas.microsoft.com/office/powerpoint/2010/main" val="2514572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16</a:t>
            </a:fld>
            <a:endParaRPr lang="en-US" dirty="0"/>
          </a:p>
        </p:txBody>
      </p:sp>
    </p:spTree>
    <p:extLst>
      <p:ext uri="{BB962C8B-B14F-4D97-AF65-F5344CB8AC3E}">
        <p14:creationId xmlns:p14="http://schemas.microsoft.com/office/powerpoint/2010/main" val="3344611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17</a:t>
            </a:fld>
            <a:endParaRPr lang="en-US" dirty="0"/>
          </a:p>
        </p:txBody>
      </p:sp>
    </p:spTree>
    <p:extLst>
      <p:ext uri="{BB962C8B-B14F-4D97-AF65-F5344CB8AC3E}">
        <p14:creationId xmlns:p14="http://schemas.microsoft.com/office/powerpoint/2010/main" val="1725812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18</a:t>
            </a:fld>
            <a:endParaRPr lang="en-US" dirty="0"/>
          </a:p>
        </p:txBody>
      </p:sp>
    </p:spTree>
    <p:extLst>
      <p:ext uri="{BB962C8B-B14F-4D97-AF65-F5344CB8AC3E}">
        <p14:creationId xmlns:p14="http://schemas.microsoft.com/office/powerpoint/2010/main" val="3567435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19</a:t>
            </a:fld>
            <a:endParaRPr lang="en-US" dirty="0"/>
          </a:p>
        </p:txBody>
      </p:sp>
    </p:spTree>
    <p:extLst>
      <p:ext uri="{BB962C8B-B14F-4D97-AF65-F5344CB8AC3E}">
        <p14:creationId xmlns:p14="http://schemas.microsoft.com/office/powerpoint/2010/main" val="168486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20</a:t>
            </a:fld>
            <a:endParaRPr lang="en-US" dirty="0"/>
          </a:p>
        </p:txBody>
      </p:sp>
    </p:spTree>
    <p:extLst>
      <p:ext uri="{BB962C8B-B14F-4D97-AF65-F5344CB8AC3E}">
        <p14:creationId xmlns:p14="http://schemas.microsoft.com/office/powerpoint/2010/main" val="2490149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21</a:t>
            </a:fld>
            <a:endParaRPr lang="en-US" dirty="0"/>
          </a:p>
        </p:txBody>
      </p:sp>
    </p:spTree>
    <p:extLst>
      <p:ext uri="{BB962C8B-B14F-4D97-AF65-F5344CB8AC3E}">
        <p14:creationId xmlns:p14="http://schemas.microsoft.com/office/powerpoint/2010/main" val="1351388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22</a:t>
            </a:fld>
            <a:endParaRPr lang="en-US" dirty="0"/>
          </a:p>
        </p:txBody>
      </p:sp>
    </p:spTree>
    <p:extLst>
      <p:ext uri="{BB962C8B-B14F-4D97-AF65-F5344CB8AC3E}">
        <p14:creationId xmlns:p14="http://schemas.microsoft.com/office/powerpoint/2010/main" val="1514612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23</a:t>
            </a:fld>
            <a:endParaRPr lang="en-US" dirty="0"/>
          </a:p>
        </p:txBody>
      </p:sp>
    </p:spTree>
    <p:extLst>
      <p:ext uri="{BB962C8B-B14F-4D97-AF65-F5344CB8AC3E}">
        <p14:creationId xmlns:p14="http://schemas.microsoft.com/office/powerpoint/2010/main" val="2574002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24</a:t>
            </a:fld>
            <a:endParaRPr lang="en-US" dirty="0"/>
          </a:p>
        </p:txBody>
      </p:sp>
    </p:spTree>
    <p:extLst>
      <p:ext uri="{BB962C8B-B14F-4D97-AF65-F5344CB8AC3E}">
        <p14:creationId xmlns:p14="http://schemas.microsoft.com/office/powerpoint/2010/main" val="2328868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25</a:t>
            </a:fld>
            <a:endParaRPr lang="en-US" dirty="0"/>
          </a:p>
        </p:txBody>
      </p:sp>
    </p:spTree>
    <p:extLst>
      <p:ext uri="{BB962C8B-B14F-4D97-AF65-F5344CB8AC3E}">
        <p14:creationId xmlns:p14="http://schemas.microsoft.com/office/powerpoint/2010/main" val="3078812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46CB8-1EAB-DD18-10A7-193BFB680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7E8BB-DCF9-D203-5262-590F3BD50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3DED36-48D2-EC59-1E16-50F1BA4DB2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E73DED-F9B0-FE98-F4F4-2F1C2D26DDAF}"/>
              </a:ext>
            </a:extLst>
          </p:cNvPr>
          <p:cNvSpPr>
            <a:spLocks noGrp="1"/>
          </p:cNvSpPr>
          <p:nvPr>
            <p:ph type="sldNum" sz="quarter" idx="5"/>
          </p:nvPr>
        </p:nvSpPr>
        <p:spPr/>
        <p:txBody>
          <a:bodyPr/>
          <a:lstStyle/>
          <a:p>
            <a:fld id="{D5939589-3E79-4C82-AA4A-FE78234FAA59}" type="slidenum">
              <a:rPr lang="en-US" smtClean="0"/>
              <a:t>26</a:t>
            </a:fld>
            <a:endParaRPr lang="en-US" dirty="0"/>
          </a:p>
        </p:txBody>
      </p:sp>
    </p:spTree>
    <p:extLst>
      <p:ext uri="{BB962C8B-B14F-4D97-AF65-F5344CB8AC3E}">
        <p14:creationId xmlns:p14="http://schemas.microsoft.com/office/powerpoint/2010/main" val="272478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27</a:t>
            </a:fld>
            <a:endParaRPr lang="en-US" dirty="0"/>
          </a:p>
        </p:txBody>
      </p:sp>
    </p:spTree>
    <p:extLst>
      <p:ext uri="{BB962C8B-B14F-4D97-AF65-F5344CB8AC3E}">
        <p14:creationId xmlns:p14="http://schemas.microsoft.com/office/powerpoint/2010/main" val="3731556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28</a:t>
            </a:fld>
            <a:endParaRPr lang="en-US" dirty="0"/>
          </a:p>
        </p:txBody>
      </p:sp>
    </p:spTree>
    <p:extLst>
      <p:ext uri="{BB962C8B-B14F-4D97-AF65-F5344CB8AC3E}">
        <p14:creationId xmlns:p14="http://schemas.microsoft.com/office/powerpoint/2010/main" val="484505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DF292-EA18-AD8D-8FFE-E82F0C6CE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B54D3-B1F3-2980-F2DD-239A6E76F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17DD4-FA9D-C22C-0C9E-B074BBF2B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7E162B-482E-5A20-A750-B234C3D23DF4}"/>
              </a:ext>
            </a:extLst>
          </p:cNvPr>
          <p:cNvSpPr>
            <a:spLocks noGrp="1"/>
          </p:cNvSpPr>
          <p:nvPr>
            <p:ph type="sldNum" sz="quarter" idx="5"/>
          </p:nvPr>
        </p:nvSpPr>
        <p:spPr/>
        <p:txBody>
          <a:bodyPr/>
          <a:lstStyle/>
          <a:p>
            <a:fld id="{D5939589-3E79-4C82-AA4A-FE78234FAA59}" type="slidenum">
              <a:rPr lang="en-US" smtClean="0"/>
              <a:t>29</a:t>
            </a:fld>
            <a:endParaRPr lang="en-US" dirty="0"/>
          </a:p>
        </p:txBody>
      </p:sp>
    </p:spTree>
    <p:extLst>
      <p:ext uri="{BB962C8B-B14F-4D97-AF65-F5344CB8AC3E}">
        <p14:creationId xmlns:p14="http://schemas.microsoft.com/office/powerpoint/2010/main" val="2158997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33</a:t>
            </a:fld>
            <a:endParaRPr lang="en-US" dirty="0"/>
          </a:p>
        </p:txBody>
      </p:sp>
    </p:spTree>
    <p:extLst>
      <p:ext uri="{BB962C8B-B14F-4D97-AF65-F5344CB8AC3E}">
        <p14:creationId xmlns:p14="http://schemas.microsoft.com/office/powerpoint/2010/main" val="2952667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34</a:t>
            </a:fld>
            <a:endParaRPr lang="en-US" dirty="0"/>
          </a:p>
        </p:txBody>
      </p:sp>
    </p:spTree>
    <p:extLst>
      <p:ext uri="{BB962C8B-B14F-4D97-AF65-F5344CB8AC3E}">
        <p14:creationId xmlns:p14="http://schemas.microsoft.com/office/powerpoint/2010/main" val="4201451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35</a:t>
            </a:fld>
            <a:endParaRPr lang="en-US" dirty="0"/>
          </a:p>
        </p:txBody>
      </p:sp>
    </p:spTree>
    <p:extLst>
      <p:ext uri="{BB962C8B-B14F-4D97-AF65-F5344CB8AC3E}">
        <p14:creationId xmlns:p14="http://schemas.microsoft.com/office/powerpoint/2010/main" val="3675933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00A9-F9E4-58B6-6B6D-7062E06B9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4A011-921C-BD7D-B111-21C0510900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A3DBE-8D18-0DD5-302E-FD65E93B6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DDF8D-CACB-68BB-8677-3394FE39B265}"/>
              </a:ext>
            </a:extLst>
          </p:cNvPr>
          <p:cNvSpPr>
            <a:spLocks noGrp="1"/>
          </p:cNvSpPr>
          <p:nvPr>
            <p:ph type="sldNum" sz="quarter" idx="5"/>
          </p:nvPr>
        </p:nvSpPr>
        <p:spPr/>
        <p:txBody>
          <a:bodyPr/>
          <a:lstStyle/>
          <a:p>
            <a:fld id="{D5939589-3E79-4C82-AA4A-FE78234FAA59}" type="slidenum">
              <a:rPr lang="en-US" smtClean="0"/>
              <a:t>36</a:t>
            </a:fld>
            <a:endParaRPr lang="en-US" dirty="0"/>
          </a:p>
        </p:txBody>
      </p:sp>
    </p:spTree>
    <p:extLst>
      <p:ext uri="{BB962C8B-B14F-4D97-AF65-F5344CB8AC3E}">
        <p14:creationId xmlns:p14="http://schemas.microsoft.com/office/powerpoint/2010/main" val="2651840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37</a:t>
            </a:fld>
            <a:endParaRPr lang="en-US" dirty="0"/>
          </a:p>
        </p:txBody>
      </p:sp>
    </p:spTree>
    <p:extLst>
      <p:ext uri="{BB962C8B-B14F-4D97-AF65-F5344CB8AC3E}">
        <p14:creationId xmlns:p14="http://schemas.microsoft.com/office/powerpoint/2010/main" val="2481933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38</a:t>
            </a:fld>
            <a:endParaRPr lang="en-US" dirty="0"/>
          </a:p>
        </p:txBody>
      </p:sp>
    </p:spTree>
    <p:extLst>
      <p:ext uri="{BB962C8B-B14F-4D97-AF65-F5344CB8AC3E}">
        <p14:creationId xmlns:p14="http://schemas.microsoft.com/office/powerpoint/2010/main" val="1557195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39</a:t>
            </a:fld>
            <a:endParaRPr lang="en-US" dirty="0"/>
          </a:p>
        </p:txBody>
      </p:sp>
    </p:spTree>
    <p:extLst>
      <p:ext uri="{BB962C8B-B14F-4D97-AF65-F5344CB8AC3E}">
        <p14:creationId xmlns:p14="http://schemas.microsoft.com/office/powerpoint/2010/main" val="21863535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40</a:t>
            </a:fld>
            <a:endParaRPr lang="en-US" dirty="0"/>
          </a:p>
        </p:txBody>
      </p:sp>
    </p:spTree>
    <p:extLst>
      <p:ext uri="{BB962C8B-B14F-4D97-AF65-F5344CB8AC3E}">
        <p14:creationId xmlns:p14="http://schemas.microsoft.com/office/powerpoint/2010/main" val="2151885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41</a:t>
            </a:fld>
            <a:endParaRPr lang="en-US" dirty="0"/>
          </a:p>
        </p:txBody>
      </p:sp>
    </p:spTree>
    <p:extLst>
      <p:ext uri="{BB962C8B-B14F-4D97-AF65-F5344CB8AC3E}">
        <p14:creationId xmlns:p14="http://schemas.microsoft.com/office/powerpoint/2010/main" val="39976910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42</a:t>
            </a:fld>
            <a:endParaRPr lang="en-US" dirty="0"/>
          </a:p>
        </p:txBody>
      </p:sp>
    </p:spTree>
    <p:extLst>
      <p:ext uri="{BB962C8B-B14F-4D97-AF65-F5344CB8AC3E}">
        <p14:creationId xmlns:p14="http://schemas.microsoft.com/office/powerpoint/2010/main" val="32529106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43</a:t>
            </a:fld>
            <a:endParaRPr lang="en-US" dirty="0"/>
          </a:p>
        </p:txBody>
      </p:sp>
    </p:spTree>
    <p:extLst>
      <p:ext uri="{BB962C8B-B14F-4D97-AF65-F5344CB8AC3E}">
        <p14:creationId xmlns:p14="http://schemas.microsoft.com/office/powerpoint/2010/main" val="32208011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44</a:t>
            </a:fld>
            <a:endParaRPr lang="en-US" dirty="0"/>
          </a:p>
        </p:txBody>
      </p:sp>
    </p:spTree>
    <p:extLst>
      <p:ext uri="{BB962C8B-B14F-4D97-AF65-F5344CB8AC3E}">
        <p14:creationId xmlns:p14="http://schemas.microsoft.com/office/powerpoint/2010/main" val="2290624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45</a:t>
            </a:fld>
            <a:endParaRPr lang="en-US" dirty="0"/>
          </a:p>
        </p:txBody>
      </p:sp>
    </p:spTree>
    <p:extLst>
      <p:ext uri="{BB962C8B-B14F-4D97-AF65-F5344CB8AC3E}">
        <p14:creationId xmlns:p14="http://schemas.microsoft.com/office/powerpoint/2010/main" val="42661769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46</a:t>
            </a:fld>
            <a:endParaRPr lang="en-US" dirty="0"/>
          </a:p>
        </p:txBody>
      </p:sp>
    </p:spTree>
    <p:extLst>
      <p:ext uri="{BB962C8B-B14F-4D97-AF65-F5344CB8AC3E}">
        <p14:creationId xmlns:p14="http://schemas.microsoft.com/office/powerpoint/2010/main" val="12406689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47</a:t>
            </a:fld>
            <a:endParaRPr lang="en-US" dirty="0"/>
          </a:p>
        </p:txBody>
      </p:sp>
    </p:spTree>
    <p:extLst>
      <p:ext uri="{BB962C8B-B14F-4D97-AF65-F5344CB8AC3E}">
        <p14:creationId xmlns:p14="http://schemas.microsoft.com/office/powerpoint/2010/main" val="35385296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48</a:t>
            </a:fld>
            <a:endParaRPr lang="en-US" dirty="0"/>
          </a:p>
        </p:txBody>
      </p:sp>
    </p:spTree>
    <p:extLst>
      <p:ext uri="{BB962C8B-B14F-4D97-AF65-F5344CB8AC3E}">
        <p14:creationId xmlns:p14="http://schemas.microsoft.com/office/powerpoint/2010/main" val="12847510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49</a:t>
            </a:fld>
            <a:endParaRPr lang="en-US" dirty="0"/>
          </a:p>
        </p:txBody>
      </p:sp>
    </p:spTree>
    <p:extLst>
      <p:ext uri="{BB962C8B-B14F-4D97-AF65-F5344CB8AC3E}">
        <p14:creationId xmlns:p14="http://schemas.microsoft.com/office/powerpoint/2010/main" val="12826121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50</a:t>
            </a:fld>
            <a:endParaRPr lang="en-US" dirty="0"/>
          </a:p>
        </p:txBody>
      </p:sp>
    </p:spTree>
    <p:extLst>
      <p:ext uri="{BB962C8B-B14F-4D97-AF65-F5344CB8AC3E}">
        <p14:creationId xmlns:p14="http://schemas.microsoft.com/office/powerpoint/2010/main" val="25271449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51</a:t>
            </a:fld>
            <a:endParaRPr lang="en-US" dirty="0"/>
          </a:p>
        </p:txBody>
      </p:sp>
    </p:spTree>
    <p:extLst>
      <p:ext uri="{BB962C8B-B14F-4D97-AF65-F5344CB8AC3E}">
        <p14:creationId xmlns:p14="http://schemas.microsoft.com/office/powerpoint/2010/main" val="11689275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52</a:t>
            </a:fld>
            <a:endParaRPr lang="en-US" dirty="0"/>
          </a:p>
        </p:txBody>
      </p:sp>
    </p:spTree>
    <p:extLst>
      <p:ext uri="{BB962C8B-B14F-4D97-AF65-F5344CB8AC3E}">
        <p14:creationId xmlns:p14="http://schemas.microsoft.com/office/powerpoint/2010/main" val="27411975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53</a:t>
            </a:fld>
            <a:endParaRPr lang="en-US" dirty="0"/>
          </a:p>
        </p:txBody>
      </p:sp>
    </p:spTree>
    <p:extLst>
      <p:ext uri="{BB962C8B-B14F-4D97-AF65-F5344CB8AC3E}">
        <p14:creationId xmlns:p14="http://schemas.microsoft.com/office/powerpoint/2010/main" val="4985124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5E646-21A5-90CF-094D-CDF996181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6D81C-ACA2-C46B-7387-FBEED44EA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FCC15-4AAF-3BD9-563F-5CF61BFA2C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1336B0-BD6A-4F08-B9E5-F03B894CD00A}"/>
              </a:ext>
            </a:extLst>
          </p:cNvPr>
          <p:cNvSpPr>
            <a:spLocks noGrp="1"/>
          </p:cNvSpPr>
          <p:nvPr>
            <p:ph type="sldNum" sz="quarter" idx="5"/>
          </p:nvPr>
        </p:nvSpPr>
        <p:spPr/>
        <p:txBody>
          <a:bodyPr/>
          <a:lstStyle/>
          <a:p>
            <a:fld id="{D5939589-3E79-4C82-AA4A-FE78234FAA59}" type="slidenum">
              <a:rPr lang="en-US" smtClean="0"/>
              <a:t>54</a:t>
            </a:fld>
            <a:endParaRPr lang="en-US" dirty="0"/>
          </a:p>
        </p:txBody>
      </p:sp>
    </p:spTree>
    <p:extLst>
      <p:ext uri="{BB962C8B-B14F-4D97-AF65-F5344CB8AC3E}">
        <p14:creationId xmlns:p14="http://schemas.microsoft.com/office/powerpoint/2010/main" val="17542733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55</a:t>
            </a:fld>
            <a:endParaRPr lang="en-US" dirty="0"/>
          </a:p>
        </p:txBody>
      </p:sp>
    </p:spTree>
    <p:extLst>
      <p:ext uri="{BB962C8B-B14F-4D97-AF65-F5344CB8AC3E}">
        <p14:creationId xmlns:p14="http://schemas.microsoft.com/office/powerpoint/2010/main" val="42689477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E4BD-6479-EAF1-15D8-BBB83C240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D0E16-FFE7-5DA0-A24A-D66047780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19282-7BE2-B2BA-2457-75FCD13C99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D7F8C-CF20-8A51-1DC8-528817BD1C01}"/>
              </a:ext>
            </a:extLst>
          </p:cNvPr>
          <p:cNvSpPr>
            <a:spLocks noGrp="1"/>
          </p:cNvSpPr>
          <p:nvPr>
            <p:ph type="sldNum" sz="quarter" idx="5"/>
          </p:nvPr>
        </p:nvSpPr>
        <p:spPr/>
        <p:txBody>
          <a:bodyPr/>
          <a:lstStyle/>
          <a:p>
            <a:fld id="{D5939589-3E79-4C82-AA4A-FE78234FAA59}" type="slidenum">
              <a:rPr lang="en-US" smtClean="0"/>
              <a:t>56</a:t>
            </a:fld>
            <a:endParaRPr lang="en-US" dirty="0"/>
          </a:p>
        </p:txBody>
      </p:sp>
    </p:spTree>
    <p:extLst>
      <p:ext uri="{BB962C8B-B14F-4D97-AF65-F5344CB8AC3E}">
        <p14:creationId xmlns:p14="http://schemas.microsoft.com/office/powerpoint/2010/main" val="4009944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85365-7989-B7E7-34C3-B2B5169C8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F87F4-16D6-B797-F946-21C71D43C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780EC-BC23-8848-3D26-2666CA10D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6017B9-A23E-F25E-56C6-F2662A17A950}"/>
              </a:ext>
            </a:extLst>
          </p:cNvPr>
          <p:cNvSpPr>
            <a:spLocks noGrp="1"/>
          </p:cNvSpPr>
          <p:nvPr>
            <p:ph type="sldNum" sz="quarter" idx="5"/>
          </p:nvPr>
        </p:nvSpPr>
        <p:spPr/>
        <p:txBody>
          <a:bodyPr/>
          <a:lstStyle/>
          <a:p>
            <a:fld id="{D5939589-3E79-4C82-AA4A-FE78234FAA59}" type="slidenum">
              <a:rPr lang="en-US" smtClean="0"/>
              <a:t>57</a:t>
            </a:fld>
            <a:endParaRPr lang="en-US" dirty="0"/>
          </a:p>
        </p:txBody>
      </p:sp>
    </p:spTree>
    <p:extLst>
      <p:ext uri="{BB962C8B-B14F-4D97-AF65-F5344CB8AC3E}">
        <p14:creationId xmlns:p14="http://schemas.microsoft.com/office/powerpoint/2010/main" val="1215717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58</a:t>
            </a:fld>
            <a:endParaRPr lang="en-US" dirty="0"/>
          </a:p>
        </p:txBody>
      </p:sp>
    </p:spTree>
    <p:extLst>
      <p:ext uri="{BB962C8B-B14F-4D97-AF65-F5344CB8AC3E}">
        <p14:creationId xmlns:p14="http://schemas.microsoft.com/office/powerpoint/2010/main" val="29680015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59</a:t>
            </a:fld>
            <a:endParaRPr lang="en-US" dirty="0"/>
          </a:p>
        </p:txBody>
      </p:sp>
    </p:spTree>
    <p:extLst>
      <p:ext uri="{BB962C8B-B14F-4D97-AF65-F5344CB8AC3E}">
        <p14:creationId xmlns:p14="http://schemas.microsoft.com/office/powerpoint/2010/main" val="33677177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60</a:t>
            </a:fld>
            <a:endParaRPr lang="en-US" dirty="0"/>
          </a:p>
        </p:txBody>
      </p:sp>
    </p:spTree>
    <p:extLst>
      <p:ext uri="{BB962C8B-B14F-4D97-AF65-F5344CB8AC3E}">
        <p14:creationId xmlns:p14="http://schemas.microsoft.com/office/powerpoint/2010/main" val="26260236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61</a:t>
            </a:fld>
            <a:endParaRPr lang="en-US" dirty="0"/>
          </a:p>
        </p:txBody>
      </p:sp>
    </p:spTree>
    <p:extLst>
      <p:ext uri="{BB962C8B-B14F-4D97-AF65-F5344CB8AC3E}">
        <p14:creationId xmlns:p14="http://schemas.microsoft.com/office/powerpoint/2010/main" val="28186939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0DBF-B75A-5DB4-35DF-466D33B78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B010A-4F18-F56D-BB69-5E4B64B3C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EA598-AD16-D445-34D8-7D962A63B3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58DDF6-8584-2827-BF90-C47DA57C45F6}"/>
              </a:ext>
            </a:extLst>
          </p:cNvPr>
          <p:cNvSpPr>
            <a:spLocks noGrp="1"/>
          </p:cNvSpPr>
          <p:nvPr>
            <p:ph type="sldNum" sz="quarter" idx="5"/>
          </p:nvPr>
        </p:nvSpPr>
        <p:spPr/>
        <p:txBody>
          <a:bodyPr/>
          <a:lstStyle/>
          <a:p>
            <a:fld id="{D5939589-3E79-4C82-AA4A-FE78234FAA59}" type="slidenum">
              <a:rPr lang="en-US" smtClean="0"/>
              <a:t>62</a:t>
            </a:fld>
            <a:endParaRPr lang="en-US" dirty="0"/>
          </a:p>
        </p:txBody>
      </p:sp>
    </p:spTree>
    <p:extLst>
      <p:ext uri="{BB962C8B-B14F-4D97-AF65-F5344CB8AC3E}">
        <p14:creationId xmlns:p14="http://schemas.microsoft.com/office/powerpoint/2010/main" val="31735047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4535-9D35-60DE-9A34-E8D187EE9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04F1B-CD30-396B-6F35-46F93B45F3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7D616-BA98-72AC-7C13-23BCBBF9C6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5F0863-5233-D07B-062A-6FB01B10C528}"/>
              </a:ext>
            </a:extLst>
          </p:cNvPr>
          <p:cNvSpPr>
            <a:spLocks noGrp="1"/>
          </p:cNvSpPr>
          <p:nvPr>
            <p:ph type="sldNum" sz="quarter" idx="5"/>
          </p:nvPr>
        </p:nvSpPr>
        <p:spPr/>
        <p:txBody>
          <a:bodyPr/>
          <a:lstStyle/>
          <a:p>
            <a:fld id="{D5939589-3E79-4C82-AA4A-FE78234FAA59}" type="slidenum">
              <a:rPr lang="en-US" smtClean="0"/>
              <a:t>63</a:t>
            </a:fld>
            <a:endParaRPr lang="en-US" dirty="0"/>
          </a:p>
        </p:txBody>
      </p:sp>
    </p:spTree>
    <p:extLst>
      <p:ext uri="{BB962C8B-B14F-4D97-AF65-F5344CB8AC3E}">
        <p14:creationId xmlns:p14="http://schemas.microsoft.com/office/powerpoint/2010/main" val="22852891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24B56-CC21-CC94-31DC-74AD88D82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4364F-C770-F082-16C1-35EDB19F5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6F4C8-5EA6-4510-AE11-E3B2B9C09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FCFBBC-3179-F03A-6AE4-6B022D69CB9F}"/>
              </a:ext>
            </a:extLst>
          </p:cNvPr>
          <p:cNvSpPr>
            <a:spLocks noGrp="1"/>
          </p:cNvSpPr>
          <p:nvPr>
            <p:ph type="sldNum" sz="quarter" idx="5"/>
          </p:nvPr>
        </p:nvSpPr>
        <p:spPr/>
        <p:txBody>
          <a:bodyPr/>
          <a:lstStyle/>
          <a:p>
            <a:fld id="{D5939589-3E79-4C82-AA4A-FE78234FAA59}" type="slidenum">
              <a:rPr lang="en-US" smtClean="0"/>
              <a:t>64</a:t>
            </a:fld>
            <a:endParaRPr lang="en-US" dirty="0"/>
          </a:p>
        </p:txBody>
      </p:sp>
    </p:spTree>
    <p:extLst>
      <p:ext uri="{BB962C8B-B14F-4D97-AF65-F5344CB8AC3E}">
        <p14:creationId xmlns:p14="http://schemas.microsoft.com/office/powerpoint/2010/main" val="32382480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17E6E-21B2-2E46-7214-3E00EBB24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27612-5552-8526-11D3-322F30D50B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E9014-92B5-D583-CA19-764DBF2AB7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741B32-85DC-9AAB-8ED8-AA97AFF1F069}"/>
              </a:ext>
            </a:extLst>
          </p:cNvPr>
          <p:cNvSpPr>
            <a:spLocks noGrp="1"/>
          </p:cNvSpPr>
          <p:nvPr>
            <p:ph type="sldNum" sz="quarter" idx="5"/>
          </p:nvPr>
        </p:nvSpPr>
        <p:spPr/>
        <p:txBody>
          <a:bodyPr/>
          <a:lstStyle/>
          <a:p>
            <a:fld id="{D5939589-3E79-4C82-AA4A-FE78234FAA59}" type="slidenum">
              <a:rPr lang="en-US" smtClean="0"/>
              <a:t>65</a:t>
            </a:fld>
            <a:endParaRPr lang="en-US" dirty="0"/>
          </a:p>
        </p:txBody>
      </p:sp>
    </p:spTree>
    <p:extLst>
      <p:ext uri="{BB962C8B-B14F-4D97-AF65-F5344CB8AC3E}">
        <p14:creationId xmlns:p14="http://schemas.microsoft.com/office/powerpoint/2010/main" val="41283570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CC31D-2363-3911-BE2F-4884F7C8E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FB1F4-875E-37F1-1E41-58C6C1EEE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1A4E8-787E-24EC-E238-26A34D85AC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B7FABF-8F29-1EC4-F2CB-2F0D03065207}"/>
              </a:ext>
            </a:extLst>
          </p:cNvPr>
          <p:cNvSpPr>
            <a:spLocks noGrp="1"/>
          </p:cNvSpPr>
          <p:nvPr>
            <p:ph type="sldNum" sz="quarter" idx="5"/>
          </p:nvPr>
        </p:nvSpPr>
        <p:spPr/>
        <p:txBody>
          <a:bodyPr/>
          <a:lstStyle/>
          <a:p>
            <a:fld id="{D5939589-3E79-4C82-AA4A-FE78234FAA59}" type="slidenum">
              <a:rPr lang="en-US" smtClean="0"/>
              <a:t>66</a:t>
            </a:fld>
            <a:endParaRPr lang="en-US" dirty="0"/>
          </a:p>
        </p:txBody>
      </p:sp>
    </p:spTree>
    <p:extLst>
      <p:ext uri="{BB962C8B-B14F-4D97-AF65-F5344CB8AC3E}">
        <p14:creationId xmlns:p14="http://schemas.microsoft.com/office/powerpoint/2010/main" val="6304853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FCD04-406B-BF72-0DC9-4E57662D5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9A851-3884-662A-9A44-99635B025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A2724-9033-E421-C540-A47247B802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E1512C-8AB1-1DF4-198B-549CF36BD635}"/>
              </a:ext>
            </a:extLst>
          </p:cNvPr>
          <p:cNvSpPr>
            <a:spLocks noGrp="1"/>
          </p:cNvSpPr>
          <p:nvPr>
            <p:ph type="sldNum" sz="quarter" idx="5"/>
          </p:nvPr>
        </p:nvSpPr>
        <p:spPr/>
        <p:txBody>
          <a:bodyPr/>
          <a:lstStyle/>
          <a:p>
            <a:fld id="{D5939589-3E79-4C82-AA4A-FE78234FAA59}" type="slidenum">
              <a:rPr lang="en-US" smtClean="0"/>
              <a:t>67</a:t>
            </a:fld>
            <a:endParaRPr lang="en-US" dirty="0"/>
          </a:p>
        </p:txBody>
      </p:sp>
    </p:spTree>
    <p:extLst>
      <p:ext uri="{BB962C8B-B14F-4D97-AF65-F5344CB8AC3E}">
        <p14:creationId xmlns:p14="http://schemas.microsoft.com/office/powerpoint/2010/main" val="5468890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1A530-EEBD-2B99-2C5E-1B4ED740C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B6F22-9AAC-7C26-6207-469E081B9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4C552-552F-3A7E-D5CA-386561F294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767705-AAA4-DDDC-7ADC-F10FE3D51E2A}"/>
              </a:ext>
            </a:extLst>
          </p:cNvPr>
          <p:cNvSpPr>
            <a:spLocks noGrp="1"/>
          </p:cNvSpPr>
          <p:nvPr>
            <p:ph type="sldNum" sz="quarter" idx="5"/>
          </p:nvPr>
        </p:nvSpPr>
        <p:spPr/>
        <p:txBody>
          <a:bodyPr/>
          <a:lstStyle/>
          <a:p>
            <a:fld id="{D5939589-3E79-4C82-AA4A-FE78234FAA59}" type="slidenum">
              <a:rPr lang="en-US" smtClean="0"/>
              <a:t>68</a:t>
            </a:fld>
            <a:endParaRPr lang="en-US" dirty="0"/>
          </a:p>
        </p:txBody>
      </p:sp>
    </p:spTree>
    <p:extLst>
      <p:ext uri="{BB962C8B-B14F-4D97-AF65-F5344CB8AC3E}">
        <p14:creationId xmlns:p14="http://schemas.microsoft.com/office/powerpoint/2010/main" val="29297000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69614-DB97-7F5D-B228-E749DE6BF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C7084-A5F9-FD7C-772A-BF3EC0BB5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4E669-2B95-2264-4C6B-82C23B62B5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D68350-8B76-4D00-A7D3-562727C16EAD}"/>
              </a:ext>
            </a:extLst>
          </p:cNvPr>
          <p:cNvSpPr>
            <a:spLocks noGrp="1"/>
          </p:cNvSpPr>
          <p:nvPr>
            <p:ph type="sldNum" sz="quarter" idx="5"/>
          </p:nvPr>
        </p:nvSpPr>
        <p:spPr/>
        <p:txBody>
          <a:bodyPr/>
          <a:lstStyle/>
          <a:p>
            <a:fld id="{D5939589-3E79-4C82-AA4A-FE78234FAA59}" type="slidenum">
              <a:rPr lang="en-US" smtClean="0"/>
              <a:t>69</a:t>
            </a:fld>
            <a:endParaRPr lang="en-US" dirty="0"/>
          </a:p>
        </p:txBody>
      </p:sp>
    </p:spTree>
    <p:extLst>
      <p:ext uri="{BB962C8B-B14F-4D97-AF65-F5344CB8AC3E}">
        <p14:creationId xmlns:p14="http://schemas.microsoft.com/office/powerpoint/2010/main" val="12624400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014CC-4A8C-3496-92D3-2DA76F5CA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C8A6C-8253-24B0-1BDD-7991DE6DB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CD5EA-3559-7AF6-3075-B2546303F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2CD74C-E741-4C5C-163C-F32B9BEBA66D}"/>
              </a:ext>
            </a:extLst>
          </p:cNvPr>
          <p:cNvSpPr>
            <a:spLocks noGrp="1"/>
          </p:cNvSpPr>
          <p:nvPr>
            <p:ph type="sldNum" sz="quarter" idx="5"/>
          </p:nvPr>
        </p:nvSpPr>
        <p:spPr/>
        <p:txBody>
          <a:bodyPr/>
          <a:lstStyle/>
          <a:p>
            <a:fld id="{D5939589-3E79-4C82-AA4A-FE78234FAA59}" type="slidenum">
              <a:rPr lang="en-US" smtClean="0"/>
              <a:t>70</a:t>
            </a:fld>
            <a:endParaRPr lang="en-US" dirty="0"/>
          </a:p>
        </p:txBody>
      </p:sp>
    </p:spTree>
    <p:extLst>
      <p:ext uri="{BB962C8B-B14F-4D97-AF65-F5344CB8AC3E}">
        <p14:creationId xmlns:p14="http://schemas.microsoft.com/office/powerpoint/2010/main" val="12468891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7EAD-7F89-26E4-FEB8-67B9FF2D8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03DD1-63AF-C1F0-882B-A316C8F9E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73235-D737-5750-374A-DCFF98A8B8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4A205-5306-FED9-F33F-31D1076DFE17}"/>
              </a:ext>
            </a:extLst>
          </p:cNvPr>
          <p:cNvSpPr>
            <a:spLocks noGrp="1"/>
          </p:cNvSpPr>
          <p:nvPr>
            <p:ph type="sldNum" sz="quarter" idx="5"/>
          </p:nvPr>
        </p:nvSpPr>
        <p:spPr/>
        <p:txBody>
          <a:bodyPr/>
          <a:lstStyle/>
          <a:p>
            <a:fld id="{D5939589-3E79-4C82-AA4A-FE78234FAA59}" type="slidenum">
              <a:rPr lang="en-US" smtClean="0"/>
              <a:t>71</a:t>
            </a:fld>
            <a:endParaRPr lang="en-US" dirty="0"/>
          </a:p>
        </p:txBody>
      </p:sp>
    </p:spTree>
    <p:extLst>
      <p:ext uri="{BB962C8B-B14F-4D97-AF65-F5344CB8AC3E}">
        <p14:creationId xmlns:p14="http://schemas.microsoft.com/office/powerpoint/2010/main" val="6360289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9243-9A60-0653-6999-1F859CDE3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2B784-8ED9-F3BF-4D93-C9B2B2B74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B979C-02E6-7922-D87F-4BD37A100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3411E6-C4B8-8B5B-6939-6E193AB68C96}"/>
              </a:ext>
            </a:extLst>
          </p:cNvPr>
          <p:cNvSpPr>
            <a:spLocks noGrp="1"/>
          </p:cNvSpPr>
          <p:nvPr>
            <p:ph type="sldNum" sz="quarter" idx="5"/>
          </p:nvPr>
        </p:nvSpPr>
        <p:spPr/>
        <p:txBody>
          <a:bodyPr/>
          <a:lstStyle/>
          <a:p>
            <a:fld id="{D5939589-3E79-4C82-AA4A-FE78234FAA59}" type="slidenum">
              <a:rPr lang="en-US" smtClean="0"/>
              <a:t>72</a:t>
            </a:fld>
            <a:endParaRPr lang="en-US" dirty="0"/>
          </a:p>
        </p:txBody>
      </p:sp>
    </p:spTree>
    <p:extLst>
      <p:ext uri="{BB962C8B-B14F-4D97-AF65-F5344CB8AC3E}">
        <p14:creationId xmlns:p14="http://schemas.microsoft.com/office/powerpoint/2010/main" val="37466606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7FE69-85DC-DE87-8BDD-C5E40CE1A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6EB2C-56DE-2B20-6B68-5B2AD567A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1F83-68B8-C621-FF57-B6DE57605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6699E1-139D-A67F-CDD4-4EA3545D8B84}"/>
              </a:ext>
            </a:extLst>
          </p:cNvPr>
          <p:cNvSpPr>
            <a:spLocks noGrp="1"/>
          </p:cNvSpPr>
          <p:nvPr>
            <p:ph type="sldNum" sz="quarter" idx="5"/>
          </p:nvPr>
        </p:nvSpPr>
        <p:spPr/>
        <p:txBody>
          <a:bodyPr/>
          <a:lstStyle/>
          <a:p>
            <a:fld id="{D5939589-3E79-4C82-AA4A-FE78234FAA59}" type="slidenum">
              <a:rPr lang="en-US" smtClean="0"/>
              <a:t>80</a:t>
            </a:fld>
            <a:endParaRPr lang="en-US" dirty="0"/>
          </a:p>
        </p:txBody>
      </p:sp>
    </p:spTree>
    <p:extLst>
      <p:ext uri="{BB962C8B-B14F-4D97-AF65-F5344CB8AC3E}">
        <p14:creationId xmlns:p14="http://schemas.microsoft.com/office/powerpoint/2010/main" val="25599445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FFA36-B52E-D2D6-AA00-89F275981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0762D-F4DA-0CC3-1EF7-473C5A162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1C66F-102E-C5C4-E853-942143ECFF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802B45-898F-5688-667C-F2B743C59B66}"/>
              </a:ext>
            </a:extLst>
          </p:cNvPr>
          <p:cNvSpPr>
            <a:spLocks noGrp="1"/>
          </p:cNvSpPr>
          <p:nvPr>
            <p:ph type="sldNum" sz="quarter" idx="5"/>
          </p:nvPr>
        </p:nvSpPr>
        <p:spPr/>
        <p:txBody>
          <a:bodyPr/>
          <a:lstStyle/>
          <a:p>
            <a:fld id="{D5939589-3E79-4C82-AA4A-FE78234FAA59}" type="slidenum">
              <a:rPr lang="en-US" smtClean="0"/>
              <a:t>81</a:t>
            </a:fld>
            <a:endParaRPr lang="en-US" dirty="0"/>
          </a:p>
        </p:txBody>
      </p:sp>
    </p:spTree>
    <p:extLst>
      <p:ext uri="{BB962C8B-B14F-4D97-AF65-F5344CB8AC3E}">
        <p14:creationId xmlns:p14="http://schemas.microsoft.com/office/powerpoint/2010/main" val="3391788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497839" y="-775774"/>
            <a:ext cx="10911841" cy="3080335"/>
          </a:xfrm>
        </p:spPr>
        <p:txBody>
          <a:bodyPr/>
          <a:lstStyle/>
          <a:p>
            <a:r>
              <a:rPr lang="en-US" sz="16600" dirty="0"/>
              <a:t>SCIENCE 4</a:t>
            </a:r>
          </a:p>
        </p:txBody>
      </p:sp>
      <p:sp>
        <p:nvSpPr>
          <p:cNvPr id="3" name="Title 1">
            <a:extLst>
              <a:ext uri="{FF2B5EF4-FFF2-40B4-BE49-F238E27FC236}">
                <a16:creationId xmlns:a16="http://schemas.microsoft.com/office/drawing/2014/main" id="{08B7B46B-3312-609D-CAD4-47AD8A659242}"/>
              </a:ext>
            </a:extLst>
          </p:cNvPr>
          <p:cNvSpPr txBox="1">
            <a:spLocks/>
          </p:cNvSpPr>
          <p:nvPr/>
        </p:nvSpPr>
        <p:spPr>
          <a:xfrm>
            <a:off x="2510679" y="661149"/>
            <a:ext cx="8899001" cy="2276856"/>
          </a:xfrm>
          <a:prstGeom prst="rect">
            <a:avLst/>
          </a:prstGeom>
        </p:spPr>
        <p:txBody>
          <a:bodyPr vert="horz" lIns="0" tIns="0" rIns="0" bIns="0" rtlCol="0" anchor="b" anchorCtr="0">
            <a:noAutofit/>
          </a:bodyPr>
          <a:lstStyle>
            <a:lvl1pPr algn="l" defTabSz="914400" rtl="0" eaLnBrk="1" latinLnBrk="0" hangingPunct="1">
              <a:lnSpc>
                <a:spcPts val="5400"/>
              </a:lnSpc>
              <a:spcBef>
                <a:spcPct val="0"/>
              </a:spcBef>
              <a:buNone/>
              <a:defRPr sz="5400" b="1" i="0" kern="1200" cap="all" spc="0" baseline="0">
                <a:solidFill>
                  <a:schemeClr val="bg1"/>
                </a:solidFill>
                <a:latin typeface="+mj-lt"/>
                <a:ea typeface="+mj-ea"/>
                <a:cs typeface="+mj-cs"/>
              </a:defRPr>
            </a:lvl1pPr>
          </a:lstStyle>
          <a:p>
            <a:r>
              <a:rPr lang="en-US" dirty="0"/>
              <a:t>QUARTER 3 WEEK 4</a:t>
            </a:r>
          </a:p>
        </p:txBody>
      </p:sp>
      <p:sp>
        <p:nvSpPr>
          <p:cNvPr id="4" name="Text Placeholder 3">
            <a:extLst>
              <a:ext uri="{FF2B5EF4-FFF2-40B4-BE49-F238E27FC236}">
                <a16:creationId xmlns:a16="http://schemas.microsoft.com/office/drawing/2014/main" id="{DB432A57-1C1B-8072-4F1A-9E5595B241CA}"/>
              </a:ext>
            </a:extLst>
          </p:cNvPr>
          <p:cNvSpPr txBox="1">
            <a:spLocks/>
          </p:cNvSpPr>
          <p:nvPr/>
        </p:nvSpPr>
        <p:spPr>
          <a:xfrm>
            <a:off x="1255748" y="4147884"/>
            <a:ext cx="10153932" cy="26084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rgbClr val="FFFF00"/>
                </a:solidFill>
              </a:rPr>
              <a:t>Learning Competency 1: </a:t>
            </a:r>
            <a:r>
              <a:rPr lang="en-US" dirty="0">
                <a:solidFill>
                  <a:schemeClr val="bg1"/>
                </a:solidFill>
              </a:rPr>
              <a:t>The learners measure accurately the distance and time when things move using simple equipment.</a:t>
            </a:r>
          </a:p>
          <a:p>
            <a:pPr marL="0" indent="0" algn="ctr">
              <a:buNone/>
            </a:pPr>
            <a:r>
              <a:rPr lang="en-US" dirty="0">
                <a:solidFill>
                  <a:srgbClr val="FFFF00"/>
                </a:solidFill>
              </a:rPr>
              <a:t>Learning Competency 2: </a:t>
            </a:r>
            <a:r>
              <a:rPr lang="en-US" dirty="0">
                <a:solidFill>
                  <a:schemeClr val="bg1"/>
                </a:solidFill>
              </a:rPr>
              <a:t>The learners identify that how far an object moves in a given time is called speed.</a:t>
            </a:r>
          </a:p>
          <a:p>
            <a:pPr marL="0" indent="0" algn="ctr">
              <a:buNone/>
            </a:pPr>
            <a:endParaRPr lang="en-US" dirty="0">
              <a:solidFill>
                <a:schemeClr val="bg1"/>
              </a:solidFill>
            </a:endParaRPr>
          </a:p>
          <a:p>
            <a:pPr algn="ctr"/>
            <a:endParaRPr lang="en-US" dirty="0">
              <a:solidFill>
                <a:schemeClr val="bg1"/>
              </a:solidFill>
            </a:endParaRPr>
          </a:p>
        </p:txBody>
      </p:sp>
      <p:pic>
        <p:nvPicPr>
          <p:cNvPr id="6" name="Picture 5" descr="A red and blue text with a hand and heart">
            <a:extLst>
              <a:ext uri="{FF2B5EF4-FFF2-40B4-BE49-F238E27FC236}">
                <a16:creationId xmlns:a16="http://schemas.microsoft.com/office/drawing/2014/main" id="{F99187FB-75CE-F00F-D511-AF7214E5B900}"/>
              </a:ext>
            </a:extLst>
          </p:cNvPr>
          <p:cNvPicPr>
            <a:picLocks noChangeAspect="1"/>
          </p:cNvPicPr>
          <p:nvPr/>
        </p:nvPicPr>
        <p:blipFill>
          <a:blip r:embed="rId3"/>
          <a:stretch>
            <a:fillRect/>
          </a:stretch>
        </p:blipFill>
        <p:spPr>
          <a:xfrm>
            <a:off x="4332213" y="2854509"/>
            <a:ext cx="3734827" cy="1319862"/>
          </a:xfrm>
          <a:prstGeom prst="rect">
            <a:avLst/>
          </a:prstGeom>
        </p:spPr>
      </p:pic>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a:xfrm>
            <a:off x="4233675" y="-1950135"/>
            <a:ext cx="7527401" cy="5140212"/>
          </a:xfrm>
        </p:spPr>
        <p:txBody>
          <a:bodyPr/>
          <a:lstStyle/>
          <a:p>
            <a:r>
              <a:rPr lang="en-US" sz="19900" dirty="0"/>
              <a:t>DAY 1</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p:pic>
    </p:spTree>
    <p:extLst>
      <p:ext uri="{BB962C8B-B14F-4D97-AF65-F5344CB8AC3E}">
        <p14:creationId xmlns:p14="http://schemas.microsoft.com/office/powerpoint/2010/main" val="303781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B4A8555D-2DFF-E6D8-3698-67C06B770264}"/>
              </a:ext>
            </a:extLst>
          </p:cNvPr>
          <p:cNvSpPr>
            <a:spLocks noGrp="1"/>
          </p:cNvSpPr>
          <p:nvPr>
            <p:ph type="title"/>
          </p:nvPr>
        </p:nvSpPr>
        <p:spPr>
          <a:xfrm>
            <a:off x="1426078" y="527969"/>
            <a:ext cx="9339844" cy="4887311"/>
          </a:xfrm>
        </p:spPr>
        <p:txBody>
          <a:bodyPr/>
          <a:lstStyle/>
          <a:p>
            <a:pPr algn="just"/>
            <a:r>
              <a:rPr lang="en-US" sz="3600" cap="none" dirty="0"/>
              <a:t>Show &amp; Tell: </a:t>
            </a:r>
            <a:r>
              <a:rPr lang="en-US" sz="3600" b="0" cap="none" dirty="0"/>
              <a:t>Show the class several pictures of students doing daily tasks like sweeping the floor, wiping the table, arranging the chairs, picking up trash, and other chores. Ask them how these pictures show the previous lesson learned about forces.</a:t>
            </a:r>
          </a:p>
        </p:txBody>
      </p:sp>
    </p:spTree>
    <p:extLst>
      <p:ext uri="{BB962C8B-B14F-4D97-AF65-F5344CB8AC3E}">
        <p14:creationId xmlns:p14="http://schemas.microsoft.com/office/powerpoint/2010/main" val="3811950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oup of kids doing different activities&#10;&#10;Description automatically generated">
            <a:extLst>
              <a:ext uri="{FF2B5EF4-FFF2-40B4-BE49-F238E27FC236}">
                <a16:creationId xmlns:a16="http://schemas.microsoft.com/office/drawing/2014/main" id="{19FDC385-9DDC-DD7C-7406-D213F16ACFC7}"/>
              </a:ext>
            </a:extLst>
          </p:cNvPr>
          <p:cNvPicPr>
            <a:picLocks noGrp="1" noChangeAspect="1"/>
          </p:cNvPicPr>
          <p:nvPr>
            <p:ph sz="half" idx="2"/>
          </p:nvPr>
        </p:nvPicPr>
        <p:blipFill>
          <a:blip r:embed="rId2"/>
          <a:stretch>
            <a:fillRect/>
          </a:stretch>
        </p:blipFill>
        <p:spPr>
          <a:xfrm>
            <a:off x="2149175" y="700088"/>
            <a:ext cx="7684100" cy="6089650"/>
          </a:xfrm>
          <a:noFill/>
        </p:spPr>
      </p:pic>
      <p:sp>
        <p:nvSpPr>
          <p:cNvPr id="8" name="TextBox 7">
            <a:extLst>
              <a:ext uri="{FF2B5EF4-FFF2-40B4-BE49-F238E27FC236}">
                <a16:creationId xmlns:a16="http://schemas.microsoft.com/office/drawing/2014/main" id="{4163795D-0DED-E33C-CA07-D3B3D77411F6}"/>
              </a:ext>
            </a:extLst>
          </p:cNvPr>
          <p:cNvSpPr txBox="1"/>
          <p:nvPr/>
        </p:nvSpPr>
        <p:spPr>
          <a:xfrm>
            <a:off x="426720" y="211574"/>
            <a:ext cx="10850880" cy="646331"/>
          </a:xfrm>
          <a:prstGeom prst="rect">
            <a:avLst/>
          </a:prstGeom>
          <a:noFill/>
        </p:spPr>
        <p:txBody>
          <a:bodyPr wrap="square">
            <a:spAutoFit/>
          </a:bodyPr>
          <a:lstStyle/>
          <a:p>
            <a:r>
              <a:rPr lang="en-US" sz="3600" b="1" dirty="0"/>
              <a:t>How is force applied in these household chores?</a:t>
            </a:r>
            <a:r>
              <a:rPr lang="en-US" sz="3600" b="1" cap="none" dirty="0"/>
              <a:t> </a:t>
            </a:r>
            <a:endParaRPr lang="en-PH" sz="3600" b="1" dirty="0"/>
          </a:p>
        </p:txBody>
      </p:sp>
    </p:spTree>
    <p:extLst>
      <p:ext uri="{BB962C8B-B14F-4D97-AF65-F5344CB8AC3E}">
        <p14:creationId xmlns:p14="http://schemas.microsoft.com/office/powerpoint/2010/main" val="376114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2">
            <a:extLst>
              <a:ext uri="{FF2B5EF4-FFF2-40B4-BE49-F238E27FC236}">
                <a16:creationId xmlns:a16="http://schemas.microsoft.com/office/drawing/2014/main" id="{E16BFA7C-979F-1D5E-79D4-DEEC56EBE216}"/>
              </a:ext>
            </a:extLst>
          </p:cNvPr>
          <p:cNvSpPr>
            <a:spLocks noGrp="1"/>
          </p:cNvSpPr>
          <p:nvPr>
            <p:ph sz="half" idx="2"/>
          </p:nvPr>
        </p:nvSpPr>
        <p:spPr>
          <a:xfrm>
            <a:off x="1154036" y="402020"/>
            <a:ext cx="10591274" cy="6455979"/>
          </a:xfrm>
        </p:spPr>
        <p:txBody>
          <a:bodyPr/>
          <a:lstStyle/>
          <a:p>
            <a:pPr algn="just"/>
            <a:r>
              <a:rPr lang="en-US" sz="3400" b="1" dirty="0"/>
              <a:t>Picture Analysis</a:t>
            </a:r>
          </a:p>
          <a:p>
            <a:pPr algn="just"/>
            <a:r>
              <a:rPr lang="en-US" sz="3400" b="1" dirty="0"/>
              <a:t>Show a picture of a 100-m dash. Tell them to examine the picture carefully. Ask them the following questions:</a:t>
            </a:r>
          </a:p>
          <a:p>
            <a:pPr algn="just"/>
            <a:r>
              <a:rPr lang="en-US" sz="3400" dirty="0" err="1"/>
              <a:t>i</a:t>
            </a:r>
            <a:r>
              <a:rPr lang="en-US" sz="3400" dirty="0"/>
              <a:t>. Who do you think will win in this race? Why? </a:t>
            </a:r>
          </a:p>
          <a:p>
            <a:pPr algn="just"/>
            <a:r>
              <a:rPr lang="en-US" sz="3400" dirty="0"/>
              <a:t>ii. How do we determine the winner? </a:t>
            </a:r>
          </a:p>
          <a:p>
            <a:pPr algn="just"/>
            <a:r>
              <a:rPr lang="en-US" sz="3400" dirty="0"/>
              <a:t>iii. Have you tried participating in a 100-m dash or similar races?  </a:t>
            </a:r>
          </a:p>
          <a:p>
            <a:pPr algn="just"/>
            <a:r>
              <a:rPr lang="en-US" sz="3400" dirty="0"/>
              <a:t>iv. When can we say that a person runs fast? </a:t>
            </a:r>
          </a:p>
          <a:p>
            <a:pPr algn="just"/>
            <a:r>
              <a:rPr lang="en-US" sz="3400" dirty="0"/>
              <a:t>v. Why is understanding the concept of speed important in sports like track and field?</a:t>
            </a:r>
          </a:p>
        </p:txBody>
      </p:sp>
    </p:spTree>
    <p:extLst>
      <p:ext uri="{BB962C8B-B14F-4D97-AF65-F5344CB8AC3E}">
        <p14:creationId xmlns:p14="http://schemas.microsoft.com/office/powerpoint/2010/main" val="291830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ollage of kids running&#10;&#10;Description automatically generated">
            <a:extLst>
              <a:ext uri="{FF2B5EF4-FFF2-40B4-BE49-F238E27FC236}">
                <a16:creationId xmlns:a16="http://schemas.microsoft.com/office/drawing/2014/main" id="{2397B995-F92B-90ED-3D67-C19F59D28CF8}"/>
              </a:ext>
            </a:extLst>
          </p:cNvPr>
          <p:cNvPicPr>
            <a:picLocks noChangeAspect="1"/>
          </p:cNvPicPr>
          <p:nvPr/>
        </p:nvPicPr>
        <p:blipFill>
          <a:blip r:embed="rId3"/>
          <a:stretch>
            <a:fillRect/>
          </a:stretch>
        </p:blipFill>
        <p:spPr>
          <a:xfrm>
            <a:off x="862013" y="1872751"/>
            <a:ext cx="10258425" cy="3744324"/>
          </a:xfrm>
          <a:prstGeom prst="rect">
            <a:avLst/>
          </a:prstGeom>
          <a:noFill/>
        </p:spPr>
      </p:pic>
    </p:spTree>
    <p:extLst>
      <p:ext uri="{BB962C8B-B14F-4D97-AF65-F5344CB8AC3E}">
        <p14:creationId xmlns:p14="http://schemas.microsoft.com/office/powerpoint/2010/main" val="958808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8E4DEB-00F5-5659-590B-C8FE13DB2562}"/>
              </a:ext>
            </a:extLst>
          </p:cNvPr>
          <p:cNvSpPr txBox="1"/>
          <p:nvPr/>
        </p:nvSpPr>
        <p:spPr>
          <a:xfrm>
            <a:off x="1338843" y="30480"/>
            <a:ext cx="10591274" cy="1754326"/>
          </a:xfrm>
          <a:prstGeom prst="rect">
            <a:avLst/>
          </a:prstGeom>
          <a:noFill/>
        </p:spPr>
        <p:txBody>
          <a:bodyPr wrap="square">
            <a:spAutoFit/>
          </a:bodyPr>
          <a:lstStyle/>
          <a:p>
            <a:pPr algn="just"/>
            <a:r>
              <a:rPr lang="en-US" sz="3600" b="1" dirty="0">
                <a:effectLst/>
                <a:latin typeface="Calibri" panose="020F0502020204030204" pitchFamily="34" charset="0"/>
                <a:ea typeface="Calibri" panose="020F0502020204030204" pitchFamily="34" charset="0"/>
              </a:rPr>
              <a:t>Guess the Word:</a:t>
            </a:r>
          </a:p>
          <a:p>
            <a:pPr algn="just"/>
            <a:r>
              <a:rPr lang="en-US" sz="3600" dirty="0">
                <a:effectLst/>
                <a:latin typeface="Calibri" panose="020F0502020204030204" pitchFamily="34" charset="0"/>
                <a:ea typeface="Calibri" panose="020F0502020204030204" pitchFamily="34" charset="0"/>
              </a:rPr>
              <a:t>Tell the students that they will be given sets of pictures that can reveal the terms to unlock.</a:t>
            </a:r>
          </a:p>
        </p:txBody>
      </p:sp>
      <p:pic>
        <p:nvPicPr>
          <p:cNvPr id="6" name="Picture 5" descr="A screenshot of a video game&#10;&#10;Description automatically generated">
            <a:extLst>
              <a:ext uri="{FF2B5EF4-FFF2-40B4-BE49-F238E27FC236}">
                <a16:creationId xmlns:a16="http://schemas.microsoft.com/office/drawing/2014/main" id="{A301751B-4475-B434-0BFC-CA7A0634413D}"/>
              </a:ext>
            </a:extLst>
          </p:cNvPr>
          <p:cNvPicPr>
            <a:picLocks noChangeAspect="1"/>
          </p:cNvPicPr>
          <p:nvPr/>
        </p:nvPicPr>
        <p:blipFill>
          <a:blip r:embed="rId3"/>
          <a:stretch>
            <a:fillRect/>
          </a:stretch>
        </p:blipFill>
        <p:spPr>
          <a:xfrm>
            <a:off x="2690376" y="1784806"/>
            <a:ext cx="7032744" cy="3782398"/>
          </a:xfrm>
          <a:prstGeom prst="rect">
            <a:avLst/>
          </a:prstGeom>
        </p:spPr>
      </p:pic>
      <p:sp>
        <p:nvSpPr>
          <p:cNvPr id="8" name="TextBox 7">
            <a:extLst>
              <a:ext uri="{FF2B5EF4-FFF2-40B4-BE49-F238E27FC236}">
                <a16:creationId xmlns:a16="http://schemas.microsoft.com/office/drawing/2014/main" id="{0A0FB0E9-CA77-594A-8053-B99FC97C9530}"/>
              </a:ext>
            </a:extLst>
          </p:cNvPr>
          <p:cNvSpPr txBox="1"/>
          <p:nvPr/>
        </p:nvSpPr>
        <p:spPr>
          <a:xfrm>
            <a:off x="4730619" y="5647174"/>
            <a:ext cx="6096000" cy="923330"/>
          </a:xfrm>
          <a:prstGeom prst="rect">
            <a:avLst/>
          </a:prstGeom>
          <a:noFill/>
        </p:spPr>
        <p:txBody>
          <a:bodyPr wrap="square">
            <a:spAutoFit/>
          </a:bodyPr>
          <a:lstStyle/>
          <a:p>
            <a:pPr algn="just"/>
            <a:r>
              <a:rPr lang="en-US" sz="5400" b="1" dirty="0">
                <a:effectLst/>
                <a:latin typeface="Calibri" panose="020F0502020204030204" pitchFamily="34" charset="0"/>
                <a:ea typeface="Calibri" panose="020F0502020204030204" pitchFamily="34" charset="0"/>
              </a:rPr>
              <a:t>POSITION</a:t>
            </a:r>
          </a:p>
        </p:txBody>
      </p:sp>
    </p:spTree>
    <p:extLst>
      <p:ext uri="{BB962C8B-B14F-4D97-AF65-F5344CB8AC3E}">
        <p14:creationId xmlns:p14="http://schemas.microsoft.com/office/powerpoint/2010/main" val="72863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D10D5-26D3-0C84-4F51-3BCD5D985FD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E7FF496-76A4-5B56-169E-5F4EE304E116}"/>
              </a:ext>
            </a:extLst>
          </p:cNvPr>
          <p:cNvSpPr txBox="1"/>
          <p:nvPr/>
        </p:nvSpPr>
        <p:spPr>
          <a:xfrm>
            <a:off x="4669659" y="5129014"/>
            <a:ext cx="6096000" cy="923330"/>
          </a:xfrm>
          <a:prstGeom prst="rect">
            <a:avLst/>
          </a:prstGeom>
          <a:noFill/>
        </p:spPr>
        <p:txBody>
          <a:bodyPr wrap="square">
            <a:spAutoFit/>
          </a:bodyPr>
          <a:lstStyle/>
          <a:p>
            <a:pPr algn="just"/>
            <a:r>
              <a:rPr lang="en-US" sz="5400" b="1" dirty="0">
                <a:latin typeface="Calibri" panose="020F0502020204030204" pitchFamily="34" charset="0"/>
                <a:ea typeface="Calibri" panose="020F0502020204030204" pitchFamily="34" charset="0"/>
              </a:rPr>
              <a:t>DISTANCE</a:t>
            </a:r>
            <a:endParaRPr lang="en-US" sz="5400" b="1" dirty="0">
              <a:effectLst/>
              <a:latin typeface="Calibri" panose="020F0502020204030204" pitchFamily="34" charset="0"/>
              <a:ea typeface="Calibri" panose="020F0502020204030204" pitchFamily="34" charset="0"/>
            </a:endParaRPr>
          </a:p>
        </p:txBody>
      </p:sp>
      <p:pic>
        <p:nvPicPr>
          <p:cNvPr id="3" name="Picture 2">
            <a:extLst>
              <a:ext uri="{FF2B5EF4-FFF2-40B4-BE49-F238E27FC236}">
                <a16:creationId xmlns:a16="http://schemas.microsoft.com/office/drawing/2014/main" id="{3FF3C420-7039-5D2E-5F2E-6D514BCE45BE}"/>
              </a:ext>
            </a:extLst>
          </p:cNvPr>
          <p:cNvPicPr>
            <a:picLocks noChangeAspect="1"/>
          </p:cNvPicPr>
          <p:nvPr/>
        </p:nvPicPr>
        <p:blipFill>
          <a:blip r:embed="rId3"/>
          <a:stretch>
            <a:fillRect/>
          </a:stretch>
        </p:blipFill>
        <p:spPr>
          <a:xfrm>
            <a:off x="2076564" y="287496"/>
            <a:ext cx="7504773" cy="4532797"/>
          </a:xfrm>
          <a:prstGeom prst="rect">
            <a:avLst/>
          </a:prstGeom>
        </p:spPr>
      </p:pic>
    </p:spTree>
    <p:extLst>
      <p:ext uri="{BB962C8B-B14F-4D97-AF65-F5344CB8AC3E}">
        <p14:creationId xmlns:p14="http://schemas.microsoft.com/office/powerpoint/2010/main" val="11165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ck with a black circle on it&#10;&#10;Description automatically generated with medium confidence">
            <a:extLst>
              <a:ext uri="{FF2B5EF4-FFF2-40B4-BE49-F238E27FC236}">
                <a16:creationId xmlns:a16="http://schemas.microsoft.com/office/drawing/2014/main" id="{269D1C3A-672A-5F81-0ECD-E378A13723F6}"/>
              </a:ext>
            </a:extLst>
          </p:cNvPr>
          <p:cNvPicPr>
            <a:picLocks noChangeAspect="1"/>
          </p:cNvPicPr>
          <p:nvPr/>
        </p:nvPicPr>
        <p:blipFill>
          <a:blip r:embed="rId2"/>
          <a:stretch>
            <a:fillRect/>
          </a:stretch>
        </p:blipFill>
        <p:spPr>
          <a:xfrm>
            <a:off x="2172848" y="262806"/>
            <a:ext cx="7590912" cy="5230200"/>
          </a:xfrm>
          <a:prstGeom prst="rect">
            <a:avLst/>
          </a:prstGeom>
        </p:spPr>
      </p:pic>
      <p:sp>
        <p:nvSpPr>
          <p:cNvPr id="8" name="TextBox 7">
            <a:extLst>
              <a:ext uri="{FF2B5EF4-FFF2-40B4-BE49-F238E27FC236}">
                <a16:creationId xmlns:a16="http://schemas.microsoft.com/office/drawing/2014/main" id="{4FEA5F2E-D609-D73D-285E-AC1B50440115}"/>
              </a:ext>
            </a:extLst>
          </p:cNvPr>
          <p:cNvSpPr txBox="1"/>
          <p:nvPr/>
        </p:nvSpPr>
        <p:spPr>
          <a:xfrm>
            <a:off x="5269099" y="5617510"/>
            <a:ext cx="6096000" cy="923330"/>
          </a:xfrm>
          <a:prstGeom prst="rect">
            <a:avLst/>
          </a:prstGeom>
          <a:noFill/>
        </p:spPr>
        <p:txBody>
          <a:bodyPr wrap="square">
            <a:spAutoFit/>
          </a:bodyPr>
          <a:lstStyle/>
          <a:p>
            <a:pPr algn="just"/>
            <a:r>
              <a:rPr lang="en-US" sz="5400" b="1" dirty="0">
                <a:latin typeface="Calibri" panose="020F0502020204030204" pitchFamily="34" charset="0"/>
                <a:ea typeface="Calibri" panose="020F0502020204030204" pitchFamily="34" charset="0"/>
              </a:rPr>
              <a:t>TIME</a:t>
            </a:r>
            <a:endParaRPr lang="en-US" sz="5400" b="1"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24748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66A1A-A5DF-DAA4-7AB8-90619EC7772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103A0CB-E753-DC4A-ABBC-096931B9A85F}"/>
              </a:ext>
            </a:extLst>
          </p:cNvPr>
          <p:cNvSpPr txBox="1"/>
          <p:nvPr/>
        </p:nvSpPr>
        <p:spPr>
          <a:xfrm>
            <a:off x="5035419" y="5343190"/>
            <a:ext cx="6096000" cy="923330"/>
          </a:xfrm>
          <a:prstGeom prst="rect">
            <a:avLst/>
          </a:prstGeom>
          <a:noFill/>
        </p:spPr>
        <p:txBody>
          <a:bodyPr wrap="square">
            <a:spAutoFit/>
          </a:bodyPr>
          <a:lstStyle/>
          <a:p>
            <a:pPr algn="just"/>
            <a:r>
              <a:rPr lang="en-US" sz="5400" b="1" dirty="0">
                <a:latin typeface="Calibri" panose="020F0502020204030204" pitchFamily="34" charset="0"/>
                <a:ea typeface="Calibri" panose="020F0502020204030204" pitchFamily="34" charset="0"/>
              </a:rPr>
              <a:t>SPEED</a:t>
            </a:r>
            <a:endParaRPr lang="en-US" sz="5400" b="1" dirty="0">
              <a:effectLst/>
              <a:latin typeface="Calibri" panose="020F0502020204030204" pitchFamily="34" charset="0"/>
              <a:ea typeface="Calibri" panose="020F0502020204030204" pitchFamily="34" charset="0"/>
            </a:endParaRPr>
          </a:p>
        </p:txBody>
      </p:sp>
      <p:pic>
        <p:nvPicPr>
          <p:cNvPr id="3" name="Picture 2" descr="A black and white image of a running person&#10;&#10;Description automatically generated">
            <a:extLst>
              <a:ext uri="{FF2B5EF4-FFF2-40B4-BE49-F238E27FC236}">
                <a16:creationId xmlns:a16="http://schemas.microsoft.com/office/drawing/2014/main" id="{190EF126-258C-3CD5-9C9C-67950FF0E7B0}"/>
              </a:ext>
            </a:extLst>
          </p:cNvPr>
          <p:cNvPicPr>
            <a:picLocks noChangeAspect="1"/>
          </p:cNvPicPr>
          <p:nvPr/>
        </p:nvPicPr>
        <p:blipFill>
          <a:blip r:embed="rId2"/>
          <a:stretch>
            <a:fillRect/>
          </a:stretch>
        </p:blipFill>
        <p:spPr>
          <a:xfrm>
            <a:off x="1841378" y="460938"/>
            <a:ext cx="7912222" cy="4675404"/>
          </a:xfrm>
          <a:prstGeom prst="rect">
            <a:avLst/>
          </a:prstGeom>
        </p:spPr>
      </p:pic>
    </p:spTree>
    <p:extLst>
      <p:ext uri="{BB962C8B-B14F-4D97-AF65-F5344CB8AC3E}">
        <p14:creationId xmlns:p14="http://schemas.microsoft.com/office/powerpoint/2010/main" val="238604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5AE8A-E8D8-723C-3B8F-E680361CA9D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61E4EF4-904A-6DBF-52B2-A24D45DE5534}"/>
              </a:ext>
            </a:extLst>
          </p:cNvPr>
          <p:cNvSpPr txBox="1"/>
          <p:nvPr/>
        </p:nvSpPr>
        <p:spPr>
          <a:xfrm>
            <a:off x="4293739" y="5709329"/>
            <a:ext cx="6096000" cy="923330"/>
          </a:xfrm>
          <a:prstGeom prst="rect">
            <a:avLst/>
          </a:prstGeom>
          <a:noFill/>
        </p:spPr>
        <p:txBody>
          <a:bodyPr wrap="square">
            <a:spAutoFit/>
          </a:bodyPr>
          <a:lstStyle/>
          <a:p>
            <a:pPr algn="just"/>
            <a:r>
              <a:rPr lang="en-US" sz="5400" b="1" dirty="0">
                <a:effectLst/>
                <a:latin typeface="Calibri" panose="020F0502020204030204" pitchFamily="34" charset="0"/>
                <a:ea typeface="Calibri" panose="020F0502020204030204" pitchFamily="34" charset="0"/>
              </a:rPr>
              <a:t>MEASURE</a:t>
            </a:r>
          </a:p>
        </p:txBody>
      </p:sp>
      <p:pic>
        <p:nvPicPr>
          <p:cNvPr id="4" name="Picture 3" descr="A person standing next to a black and white text&#10;&#10;Description automatically generated">
            <a:extLst>
              <a:ext uri="{FF2B5EF4-FFF2-40B4-BE49-F238E27FC236}">
                <a16:creationId xmlns:a16="http://schemas.microsoft.com/office/drawing/2014/main" id="{0AD3DFA4-6CC0-0076-65DC-0A469F565BDE}"/>
              </a:ext>
            </a:extLst>
          </p:cNvPr>
          <p:cNvPicPr>
            <a:picLocks noChangeAspect="1"/>
          </p:cNvPicPr>
          <p:nvPr/>
        </p:nvPicPr>
        <p:blipFill>
          <a:blip r:embed="rId2"/>
          <a:stretch>
            <a:fillRect/>
          </a:stretch>
        </p:blipFill>
        <p:spPr>
          <a:xfrm>
            <a:off x="1671193" y="225341"/>
            <a:ext cx="7988987" cy="5281379"/>
          </a:xfrm>
          <a:prstGeom prst="rect">
            <a:avLst/>
          </a:prstGeom>
        </p:spPr>
      </p:pic>
    </p:spTree>
    <p:extLst>
      <p:ext uri="{BB962C8B-B14F-4D97-AF65-F5344CB8AC3E}">
        <p14:creationId xmlns:p14="http://schemas.microsoft.com/office/powerpoint/2010/main" val="160655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1551-811F-50E6-447C-FA42A95DBE4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6D9901F-75FC-F1A5-5F78-1E679AC9C46F}"/>
              </a:ext>
            </a:extLst>
          </p:cNvPr>
          <p:cNvSpPr txBox="1"/>
          <p:nvPr/>
        </p:nvSpPr>
        <p:spPr>
          <a:xfrm>
            <a:off x="3714619" y="5709329"/>
            <a:ext cx="6096000" cy="923330"/>
          </a:xfrm>
          <a:prstGeom prst="rect">
            <a:avLst/>
          </a:prstGeom>
          <a:noFill/>
        </p:spPr>
        <p:txBody>
          <a:bodyPr wrap="square">
            <a:spAutoFit/>
          </a:bodyPr>
          <a:lstStyle/>
          <a:p>
            <a:pPr algn="just"/>
            <a:r>
              <a:rPr lang="en-US" sz="5400" b="1" dirty="0">
                <a:latin typeface="Calibri" panose="020F0502020204030204" pitchFamily="34" charset="0"/>
                <a:ea typeface="Calibri" panose="020F0502020204030204" pitchFamily="34" charset="0"/>
              </a:rPr>
              <a:t>Frame of Reference</a:t>
            </a:r>
            <a:endParaRPr lang="en-US" sz="5400" b="1" dirty="0">
              <a:effectLst/>
              <a:latin typeface="Calibri" panose="020F0502020204030204" pitchFamily="34" charset="0"/>
              <a:ea typeface="Calibri" panose="020F0502020204030204" pitchFamily="34" charset="0"/>
            </a:endParaRPr>
          </a:p>
        </p:txBody>
      </p:sp>
      <p:pic>
        <p:nvPicPr>
          <p:cNvPr id="3" name="Picture 2" descr="A picture frame with words&#10;&#10;Description automatically generated">
            <a:extLst>
              <a:ext uri="{FF2B5EF4-FFF2-40B4-BE49-F238E27FC236}">
                <a16:creationId xmlns:a16="http://schemas.microsoft.com/office/drawing/2014/main" id="{8D7F64E7-61B7-3EBD-D778-FBCB86F3E309}"/>
              </a:ext>
            </a:extLst>
          </p:cNvPr>
          <p:cNvPicPr>
            <a:picLocks noChangeAspect="1"/>
          </p:cNvPicPr>
          <p:nvPr/>
        </p:nvPicPr>
        <p:blipFill>
          <a:blip r:embed="rId2"/>
          <a:stretch>
            <a:fillRect/>
          </a:stretch>
        </p:blipFill>
        <p:spPr>
          <a:xfrm>
            <a:off x="1482052" y="225341"/>
            <a:ext cx="8781042" cy="5483988"/>
          </a:xfrm>
          <a:prstGeom prst="rect">
            <a:avLst/>
          </a:prstGeom>
        </p:spPr>
      </p:pic>
    </p:spTree>
    <p:extLst>
      <p:ext uri="{BB962C8B-B14F-4D97-AF65-F5344CB8AC3E}">
        <p14:creationId xmlns:p14="http://schemas.microsoft.com/office/powerpoint/2010/main" val="2542245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1A9E1-98E6-EF5C-37E8-D97D5C6ECC8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64D4A73-FDFB-814C-5079-67EED2A8D356}"/>
              </a:ext>
            </a:extLst>
          </p:cNvPr>
          <p:cNvSpPr txBox="1"/>
          <p:nvPr/>
        </p:nvSpPr>
        <p:spPr>
          <a:xfrm>
            <a:off x="2627498" y="5384799"/>
            <a:ext cx="8070981" cy="923330"/>
          </a:xfrm>
          <a:prstGeom prst="rect">
            <a:avLst/>
          </a:prstGeom>
          <a:noFill/>
        </p:spPr>
        <p:txBody>
          <a:bodyPr wrap="square">
            <a:spAutoFit/>
          </a:bodyPr>
          <a:lstStyle/>
          <a:p>
            <a:pPr algn="just"/>
            <a:r>
              <a:rPr lang="en-US" sz="5400" b="1" dirty="0">
                <a:latin typeface="Calibri" panose="020F0502020204030204" pitchFamily="34" charset="0"/>
                <a:ea typeface="Calibri" panose="020F0502020204030204" pitchFamily="34" charset="0"/>
              </a:rPr>
              <a:t>Meters per second (m/s)</a:t>
            </a:r>
            <a:endParaRPr lang="en-US" sz="5400" b="1" dirty="0">
              <a:effectLst/>
              <a:latin typeface="Calibri" panose="020F0502020204030204" pitchFamily="34" charset="0"/>
              <a:ea typeface="Calibri" panose="020F0502020204030204" pitchFamily="34" charset="0"/>
            </a:endParaRPr>
          </a:p>
        </p:txBody>
      </p:sp>
      <p:pic>
        <p:nvPicPr>
          <p:cNvPr id="4" name="Picture 3" descr="A speedometer and words&#10;&#10;Description automatically generated">
            <a:extLst>
              <a:ext uri="{FF2B5EF4-FFF2-40B4-BE49-F238E27FC236}">
                <a16:creationId xmlns:a16="http://schemas.microsoft.com/office/drawing/2014/main" id="{F74D9A2C-BFF9-6450-D1DC-87A654D885FE}"/>
              </a:ext>
            </a:extLst>
          </p:cNvPr>
          <p:cNvPicPr>
            <a:picLocks noChangeAspect="1"/>
          </p:cNvPicPr>
          <p:nvPr/>
        </p:nvPicPr>
        <p:blipFill>
          <a:blip r:embed="rId2"/>
          <a:stretch>
            <a:fillRect/>
          </a:stretch>
        </p:blipFill>
        <p:spPr>
          <a:xfrm>
            <a:off x="902830" y="155502"/>
            <a:ext cx="10220358" cy="5229297"/>
          </a:xfrm>
          <a:prstGeom prst="rect">
            <a:avLst/>
          </a:prstGeom>
        </p:spPr>
      </p:pic>
    </p:spTree>
    <p:extLst>
      <p:ext uri="{BB962C8B-B14F-4D97-AF65-F5344CB8AC3E}">
        <p14:creationId xmlns:p14="http://schemas.microsoft.com/office/powerpoint/2010/main" val="333002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1C4D68-3B33-DC3D-92D9-5757094753D5}"/>
              </a:ext>
            </a:extLst>
          </p:cNvPr>
          <p:cNvSpPr txBox="1"/>
          <p:nvPr/>
        </p:nvSpPr>
        <p:spPr>
          <a:xfrm>
            <a:off x="1100780" y="225299"/>
            <a:ext cx="10260201" cy="3416320"/>
          </a:xfrm>
          <a:prstGeom prst="rect">
            <a:avLst/>
          </a:prstGeom>
          <a:noFill/>
        </p:spPr>
        <p:txBody>
          <a:bodyPr wrap="square">
            <a:spAutoFit/>
          </a:bodyPr>
          <a:lstStyle/>
          <a:p>
            <a:pPr algn="just"/>
            <a:r>
              <a:rPr lang="en-US" sz="3600" b="1" dirty="0">
                <a:solidFill>
                  <a:srgbClr val="000000"/>
                </a:solidFill>
                <a:effectLst/>
                <a:latin typeface="Calibri" panose="020F0502020204030204" pitchFamily="34" charset="0"/>
                <a:ea typeface="Calibri" panose="020F0502020204030204" pitchFamily="34" charset="0"/>
              </a:rPr>
              <a:t>a. Situation Analysis: Who wins? </a:t>
            </a:r>
          </a:p>
          <a:p>
            <a:pPr algn="just"/>
            <a:r>
              <a:rPr lang="en-US" sz="3600" dirty="0">
                <a:solidFill>
                  <a:srgbClr val="000000"/>
                </a:solidFill>
                <a:effectLst/>
                <a:latin typeface="Calibri" panose="020F0502020204030204" pitchFamily="34" charset="0"/>
                <a:ea typeface="Calibri" panose="020F0502020204030204" pitchFamily="34" charset="0"/>
              </a:rPr>
              <a:t>	</a:t>
            </a:r>
            <a:r>
              <a:rPr lang="en-US" sz="3600" dirty="0" err="1">
                <a:solidFill>
                  <a:srgbClr val="000000"/>
                </a:solidFill>
                <a:effectLst/>
                <a:latin typeface="Calibri" panose="020F0502020204030204" pitchFamily="34" charset="0"/>
                <a:ea typeface="Calibri" panose="020F0502020204030204" pitchFamily="34" charset="0"/>
              </a:rPr>
              <a:t>Jurmin</a:t>
            </a:r>
            <a:r>
              <a:rPr lang="en-US" sz="3600" dirty="0">
                <a:solidFill>
                  <a:srgbClr val="000000"/>
                </a:solidFill>
                <a:effectLst/>
                <a:latin typeface="Calibri" panose="020F0502020204030204" pitchFamily="34" charset="0"/>
                <a:ea typeface="Calibri" panose="020F0502020204030204" pitchFamily="34" charset="0"/>
              </a:rPr>
              <a:t> and </a:t>
            </a:r>
            <a:r>
              <a:rPr lang="en-US" sz="3600" dirty="0" err="1">
                <a:solidFill>
                  <a:srgbClr val="000000"/>
                </a:solidFill>
                <a:effectLst/>
                <a:latin typeface="Calibri" panose="020F0502020204030204" pitchFamily="34" charset="0"/>
                <a:ea typeface="Calibri" panose="020F0502020204030204" pitchFamily="34" charset="0"/>
              </a:rPr>
              <a:t>Jervin</a:t>
            </a:r>
            <a:r>
              <a:rPr lang="en-US" sz="3600" dirty="0">
                <a:solidFill>
                  <a:srgbClr val="000000"/>
                </a:solidFill>
                <a:effectLst/>
                <a:latin typeface="Calibri" panose="020F0502020204030204" pitchFamily="34" charset="0"/>
                <a:ea typeface="Calibri" panose="020F0502020204030204" pitchFamily="34" charset="0"/>
              </a:rPr>
              <a:t> are classmates and decided to race from one end of the basketball court at their school to the other end. </a:t>
            </a:r>
            <a:r>
              <a:rPr lang="en-US" sz="3600" dirty="0" err="1">
                <a:solidFill>
                  <a:srgbClr val="000000"/>
                </a:solidFill>
                <a:effectLst/>
                <a:latin typeface="Calibri" panose="020F0502020204030204" pitchFamily="34" charset="0"/>
                <a:ea typeface="Calibri" panose="020F0502020204030204" pitchFamily="34" charset="0"/>
              </a:rPr>
              <a:t>Jurmin</a:t>
            </a:r>
            <a:r>
              <a:rPr lang="en-US" sz="3600" dirty="0">
                <a:solidFill>
                  <a:srgbClr val="000000"/>
                </a:solidFill>
                <a:effectLst/>
                <a:latin typeface="Calibri" panose="020F0502020204030204" pitchFamily="34" charset="0"/>
                <a:ea typeface="Calibri" panose="020F0502020204030204" pitchFamily="34" charset="0"/>
              </a:rPr>
              <a:t> reached the other end in 10 seconds, while </a:t>
            </a:r>
            <a:r>
              <a:rPr lang="en-US" sz="3600" dirty="0" err="1">
                <a:solidFill>
                  <a:srgbClr val="000000"/>
                </a:solidFill>
                <a:effectLst/>
                <a:latin typeface="Calibri" panose="020F0502020204030204" pitchFamily="34" charset="0"/>
                <a:ea typeface="Calibri" panose="020F0502020204030204" pitchFamily="34" charset="0"/>
              </a:rPr>
              <a:t>Jervin</a:t>
            </a:r>
            <a:r>
              <a:rPr lang="en-US" sz="3600" dirty="0">
                <a:solidFill>
                  <a:srgbClr val="000000"/>
                </a:solidFill>
                <a:effectLst/>
                <a:latin typeface="Calibri" panose="020F0502020204030204" pitchFamily="34" charset="0"/>
                <a:ea typeface="Calibri" panose="020F0502020204030204" pitchFamily="34" charset="0"/>
              </a:rPr>
              <a:t> took 12 seconds. Who won?</a:t>
            </a:r>
          </a:p>
        </p:txBody>
      </p:sp>
      <p:pic>
        <p:nvPicPr>
          <p:cNvPr id="9" name="Picture 8">
            <a:extLst>
              <a:ext uri="{FF2B5EF4-FFF2-40B4-BE49-F238E27FC236}">
                <a16:creationId xmlns:a16="http://schemas.microsoft.com/office/drawing/2014/main" id="{9D7E125B-8062-2E11-5AB1-878F5B56C856}"/>
              </a:ext>
            </a:extLst>
          </p:cNvPr>
          <p:cNvPicPr>
            <a:picLocks noChangeAspect="1"/>
          </p:cNvPicPr>
          <p:nvPr/>
        </p:nvPicPr>
        <p:blipFill>
          <a:blip r:embed="rId3"/>
          <a:stretch>
            <a:fillRect/>
          </a:stretch>
        </p:blipFill>
        <p:spPr>
          <a:xfrm>
            <a:off x="3246626" y="3016483"/>
            <a:ext cx="5698747" cy="3752491"/>
          </a:xfrm>
          <a:prstGeom prst="rect">
            <a:avLst/>
          </a:prstGeom>
        </p:spPr>
      </p:pic>
    </p:spTree>
    <p:extLst>
      <p:ext uri="{BB962C8B-B14F-4D97-AF65-F5344CB8AC3E}">
        <p14:creationId xmlns:p14="http://schemas.microsoft.com/office/powerpoint/2010/main" val="4199672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8E4CDA-067B-DFAD-26BB-61DA2111A4F5}"/>
              </a:ext>
            </a:extLst>
          </p:cNvPr>
          <p:cNvSpPr txBox="1"/>
          <p:nvPr/>
        </p:nvSpPr>
        <p:spPr>
          <a:xfrm>
            <a:off x="1324651" y="1797784"/>
            <a:ext cx="9841190" cy="1631216"/>
          </a:xfrm>
          <a:prstGeom prst="rect">
            <a:avLst/>
          </a:prstGeom>
          <a:noFill/>
        </p:spPr>
        <p:txBody>
          <a:bodyPr wrap="square">
            <a:spAutoFit/>
          </a:bodyPr>
          <a:lstStyle/>
          <a:p>
            <a:pPr algn="just"/>
            <a:r>
              <a:rPr lang="en-US" sz="6000" b="1" dirty="0">
                <a:solidFill>
                  <a:srgbClr val="FF0000"/>
                </a:solidFill>
                <a:effectLst/>
                <a:latin typeface="Calibri" panose="020F0502020204030204" pitchFamily="34" charset="0"/>
                <a:ea typeface="Calibri" panose="020F0502020204030204" pitchFamily="34" charset="0"/>
              </a:rPr>
              <a:t>Motion</a:t>
            </a:r>
            <a:r>
              <a:rPr lang="en-US" sz="4000" b="1" dirty="0">
                <a:solidFill>
                  <a:srgbClr val="000000"/>
                </a:solidFill>
                <a:effectLst/>
                <a:latin typeface="Calibri" panose="020F0502020204030204" pitchFamily="34" charset="0"/>
                <a:ea typeface="Calibri" panose="020F0502020204030204" pitchFamily="34" charset="0"/>
              </a:rPr>
              <a:t> is defined as the change in position from a reference point. </a:t>
            </a:r>
            <a:endParaRPr lang="en-PH" sz="3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422711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8E4CDA-067B-DFAD-26BB-61DA2111A4F5}"/>
              </a:ext>
            </a:extLst>
          </p:cNvPr>
          <p:cNvSpPr txBox="1"/>
          <p:nvPr/>
        </p:nvSpPr>
        <p:spPr>
          <a:xfrm>
            <a:off x="1280160" y="640080"/>
            <a:ext cx="10087699" cy="1280160"/>
          </a:xfrm>
          <a:prstGeom prst="rect">
            <a:avLst/>
          </a:prstGeom>
        </p:spPr>
        <p:txBody>
          <a:bodyPr vert="horz" lIns="0" tIns="0" rIns="0" bIns="0" rtlCol="0" anchor="b" anchorCtr="0">
            <a:normAutofit/>
          </a:bodyPr>
          <a:lstStyle/>
          <a:p>
            <a:pPr>
              <a:lnSpc>
                <a:spcPts val="4000"/>
              </a:lnSpc>
              <a:spcBef>
                <a:spcPct val="0"/>
              </a:spcBef>
              <a:spcAft>
                <a:spcPts val="600"/>
              </a:spcAft>
            </a:pPr>
            <a:r>
              <a:rPr lang="en-US" sz="4000" b="1" kern="1200" cap="all" baseline="0">
                <a:effectLst/>
                <a:latin typeface="+mj-lt"/>
                <a:ea typeface="+mj-ea"/>
                <a:cs typeface="+mj-cs"/>
              </a:rPr>
              <a:t>1. What is a reference point in the context of motion? </a:t>
            </a:r>
          </a:p>
        </p:txBody>
      </p:sp>
      <p:pic>
        <p:nvPicPr>
          <p:cNvPr id="3" name="Picture 2" descr="A cartoon of a child walking on a road&#10;&#10;Description automatically generated">
            <a:extLst>
              <a:ext uri="{FF2B5EF4-FFF2-40B4-BE49-F238E27FC236}">
                <a16:creationId xmlns:a16="http://schemas.microsoft.com/office/drawing/2014/main" id="{76A2872D-D88B-C108-0CC1-7D49EFF99603}"/>
              </a:ext>
            </a:extLst>
          </p:cNvPr>
          <p:cNvPicPr>
            <a:picLocks noChangeAspect="1"/>
          </p:cNvPicPr>
          <p:nvPr/>
        </p:nvPicPr>
        <p:blipFill rotWithShape="1">
          <a:blip r:embed="rId3"/>
          <a:srcRect r="-1" b="30871"/>
          <a:stretch/>
        </p:blipFill>
        <p:spPr bwMode="auto">
          <a:xfrm>
            <a:off x="1280160" y="2103119"/>
            <a:ext cx="10087699" cy="41148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875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8E4CDA-067B-DFAD-26BB-61DA2111A4F5}"/>
              </a:ext>
            </a:extLst>
          </p:cNvPr>
          <p:cNvSpPr txBox="1"/>
          <p:nvPr/>
        </p:nvSpPr>
        <p:spPr>
          <a:xfrm>
            <a:off x="1552725" y="871657"/>
            <a:ext cx="8922235" cy="3385542"/>
          </a:xfrm>
          <a:prstGeom prst="rect">
            <a:avLst/>
          </a:prstGeom>
          <a:noFill/>
        </p:spPr>
        <p:txBody>
          <a:bodyPr wrap="square">
            <a:spAutoFit/>
          </a:bodyPr>
          <a:lstStyle/>
          <a:p>
            <a:pPr algn="just"/>
            <a:r>
              <a:rPr lang="en-US" sz="4000" dirty="0">
                <a:solidFill>
                  <a:srgbClr val="000000"/>
                </a:solidFill>
                <a:effectLst/>
                <a:latin typeface="Calibri" panose="020F0502020204030204" pitchFamily="34" charset="0"/>
                <a:ea typeface="Calibri" panose="020F0502020204030204" pitchFamily="34" charset="0"/>
              </a:rPr>
              <a:t>A </a:t>
            </a:r>
            <a:r>
              <a:rPr lang="en-US" sz="5400" b="1" dirty="0">
                <a:solidFill>
                  <a:srgbClr val="FF0000"/>
                </a:solidFill>
                <a:effectLst/>
                <a:latin typeface="Calibri" panose="020F0502020204030204" pitchFamily="34" charset="0"/>
                <a:ea typeface="Calibri" panose="020F0502020204030204" pitchFamily="34" charset="0"/>
              </a:rPr>
              <a:t>reference point </a:t>
            </a:r>
            <a:r>
              <a:rPr lang="en-US" sz="4000" dirty="0">
                <a:solidFill>
                  <a:srgbClr val="000000"/>
                </a:solidFill>
                <a:effectLst/>
                <a:latin typeface="Calibri" panose="020F0502020204030204" pitchFamily="34" charset="0"/>
                <a:ea typeface="Calibri" panose="020F0502020204030204" pitchFamily="34" charset="0"/>
              </a:rPr>
              <a:t>is a stationary object or place that is used to determine if an object has moved or not. It can also be the starting point or origin for measuring motion. </a:t>
            </a:r>
            <a:endParaRPr lang="en-PH" sz="3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951050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8E4CDA-067B-DFAD-26BB-61DA2111A4F5}"/>
              </a:ext>
            </a:extLst>
          </p:cNvPr>
          <p:cNvSpPr txBox="1"/>
          <p:nvPr/>
        </p:nvSpPr>
        <p:spPr>
          <a:xfrm>
            <a:off x="1487211" y="1931352"/>
            <a:ext cx="8439110" cy="1938992"/>
          </a:xfrm>
          <a:prstGeom prst="rect">
            <a:avLst/>
          </a:prstGeom>
          <a:noFill/>
        </p:spPr>
        <p:txBody>
          <a:bodyPr wrap="square">
            <a:spAutoFit/>
          </a:bodyPr>
          <a:lstStyle/>
          <a:p>
            <a:pPr algn="just"/>
            <a:r>
              <a:rPr lang="en-US" sz="4000" b="1" dirty="0">
                <a:solidFill>
                  <a:srgbClr val="000000"/>
                </a:solidFill>
                <a:effectLst/>
                <a:latin typeface="Calibri" panose="020F0502020204030204" pitchFamily="34" charset="0"/>
                <a:ea typeface="Calibri" panose="020F0502020204030204" pitchFamily="34" charset="0"/>
              </a:rPr>
              <a:t>2. Why is it important to have a reference point when describing the motion of an object? </a:t>
            </a:r>
            <a:endParaRPr lang="en-PH" sz="3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4077247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8E4CDA-067B-DFAD-26BB-61DA2111A4F5}"/>
              </a:ext>
            </a:extLst>
          </p:cNvPr>
          <p:cNvSpPr txBox="1"/>
          <p:nvPr/>
        </p:nvSpPr>
        <p:spPr>
          <a:xfrm>
            <a:off x="1150355" y="1166842"/>
            <a:ext cx="9891289" cy="4524315"/>
          </a:xfrm>
          <a:prstGeom prst="rect">
            <a:avLst/>
          </a:prstGeom>
          <a:noFill/>
        </p:spPr>
        <p:txBody>
          <a:bodyPr wrap="square">
            <a:spAutoFit/>
          </a:bodyPr>
          <a:lstStyle/>
          <a:p>
            <a:pPr algn="just"/>
            <a:r>
              <a:rPr lang="en-US" sz="3600" dirty="0">
                <a:effectLst/>
                <a:latin typeface="Arial" panose="020B0604020202020204" pitchFamily="34" charset="0"/>
                <a:ea typeface="Arial" panose="020B0604020202020204" pitchFamily="34" charset="0"/>
              </a:rPr>
              <a:t>	When describing the motion of an object, it is important to have a reference point to have a basis for the change in the object’s position. </a:t>
            </a:r>
          </a:p>
          <a:p>
            <a:pPr algn="just"/>
            <a:endParaRPr lang="en-US" sz="3600" dirty="0">
              <a:effectLst/>
              <a:latin typeface="Arial" panose="020B0604020202020204" pitchFamily="34" charset="0"/>
              <a:ea typeface="Arial" panose="020B0604020202020204" pitchFamily="34" charset="0"/>
            </a:endParaRPr>
          </a:p>
          <a:p>
            <a:pPr algn="just"/>
            <a:r>
              <a:rPr lang="en-US" sz="3600" dirty="0">
                <a:effectLst/>
                <a:latin typeface="Arial" panose="020B0604020202020204" pitchFamily="34" charset="0"/>
                <a:ea typeface="Arial" panose="020B0604020202020204" pitchFamily="34" charset="0"/>
              </a:rPr>
              <a:t>For example, in the picture at the right, the boy’s motion can be observed clearly because of his change in position relative to the tree, our reference point in this situation. </a:t>
            </a:r>
          </a:p>
        </p:txBody>
      </p:sp>
    </p:spTree>
    <p:extLst>
      <p:ext uri="{BB962C8B-B14F-4D97-AF65-F5344CB8AC3E}">
        <p14:creationId xmlns:p14="http://schemas.microsoft.com/office/powerpoint/2010/main" val="4106254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rtoon of a child walking on a road&#10;&#10;Description automatically generated">
            <a:extLst>
              <a:ext uri="{FF2B5EF4-FFF2-40B4-BE49-F238E27FC236}">
                <a16:creationId xmlns:a16="http://schemas.microsoft.com/office/drawing/2014/main" id="{F655FEAC-442E-9AA6-3C3E-E4EC50F336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555675" y="1371600"/>
            <a:ext cx="7770609" cy="4643120"/>
          </a:xfrm>
          <a:prstGeom prst="rect">
            <a:avLst/>
          </a:prstGeom>
          <a:noFill/>
        </p:spPr>
      </p:pic>
    </p:spTree>
    <p:extLst>
      <p:ext uri="{BB962C8B-B14F-4D97-AF65-F5344CB8AC3E}">
        <p14:creationId xmlns:p14="http://schemas.microsoft.com/office/powerpoint/2010/main" val="257235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1145452" y="1136362"/>
            <a:ext cx="9901095" cy="4401205"/>
          </a:xfrm>
          <a:prstGeom prst="rect">
            <a:avLst/>
          </a:prstGeom>
          <a:noFill/>
        </p:spPr>
        <p:txBody>
          <a:bodyPr wrap="square">
            <a:spAutoFit/>
          </a:bodyPr>
          <a:lstStyle/>
          <a:p>
            <a:pPr algn="just"/>
            <a:r>
              <a:rPr lang="en-US" sz="4000" dirty="0">
                <a:effectLst/>
                <a:latin typeface="Calibri" panose="020F0502020204030204" pitchFamily="34" charset="0"/>
                <a:ea typeface="Calibri" panose="020F0502020204030204" pitchFamily="34" charset="0"/>
              </a:rPr>
              <a:t>3. How do we select a suitable reference point for describing the motion of an object? </a:t>
            </a:r>
          </a:p>
          <a:p>
            <a:pPr algn="just"/>
            <a:r>
              <a:rPr lang="en-US" sz="4000" dirty="0">
                <a:effectLst/>
                <a:latin typeface="Calibri" panose="020F0502020204030204" pitchFamily="34" charset="0"/>
                <a:ea typeface="Calibri" panose="020F0502020204030204" pitchFamily="34" charset="0"/>
              </a:rPr>
              <a:t>We select a suitable reference point for describing an object’s motion by choosing an object in the environment that is fixed on the ground or that is stationary and does not </a:t>
            </a:r>
          </a:p>
          <a:p>
            <a:pPr algn="just"/>
            <a:r>
              <a:rPr lang="en-US" sz="4000" dirty="0">
                <a:effectLst/>
                <a:latin typeface="Calibri" panose="020F0502020204030204" pitchFamily="34" charset="0"/>
                <a:ea typeface="Calibri" panose="020F0502020204030204" pitchFamily="34" charset="0"/>
              </a:rPr>
              <a:t>move. </a:t>
            </a:r>
          </a:p>
        </p:txBody>
      </p:sp>
    </p:spTree>
    <p:extLst>
      <p:ext uri="{BB962C8B-B14F-4D97-AF65-F5344CB8AC3E}">
        <p14:creationId xmlns:p14="http://schemas.microsoft.com/office/powerpoint/2010/main" val="400829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1515590" y="1024806"/>
            <a:ext cx="8857770" cy="4401205"/>
          </a:xfrm>
          <a:prstGeom prst="rect">
            <a:avLst/>
          </a:prstGeom>
          <a:noFill/>
        </p:spPr>
        <p:txBody>
          <a:bodyPr wrap="square">
            <a:spAutoFit/>
          </a:bodyPr>
          <a:lstStyle/>
          <a:p>
            <a:pPr algn="just"/>
            <a:r>
              <a:rPr lang="en-US" sz="4000" dirty="0">
                <a:effectLst/>
                <a:latin typeface="Calibri" panose="020F0502020204030204" pitchFamily="34" charset="0"/>
                <a:ea typeface="Calibri" panose="020F0502020204030204" pitchFamily="34" charset="0"/>
              </a:rPr>
              <a:t>4. Can you think of examples where different reference points might be chosen to describe the same motion? </a:t>
            </a:r>
          </a:p>
          <a:p>
            <a:pPr algn="just"/>
            <a:endParaRPr lang="en-US" sz="4000" dirty="0">
              <a:effectLst/>
              <a:latin typeface="Calibri" panose="020F0502020204030204" pitchFamily="34" charset="0"/>
              <a:ea typeface="Calibri" panose="020F0502020204030204" pitchFamily="34" charset="0"/>
            </a:endParaRPr>
          </a:p>
          <a:p>
            <a:pPr algn="just"/>
            <a:r>
              <a:rPr lang="en-US" sz="4000" dirty="0">
                <a:effectLst/>
                <a:latin typeface="Calibri" panose="020F0502020204030204" pitchFamily="34" charset="0"/>
                <a:ea typeface="Calibri" panose="020F0502020204030204" pitchFamily="34" charset="0"/>
              </a:rPr>
              <a:t>Examples of reference points include a tree, a sign, or a building.  </a:t>
            </a:r>
          </a:p>
          <a:p>
            <a:pPr algn="just"/>
            <a:endParaRPr lang="en-US" sz="40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275903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B4A8555D-2DFF-E6D8-3698-67C06B770264}"/>
              </a:ext>
            </a:extLst>
          </p:cNvPr>
          <p:cNvSpPr>
            <a:spLocks noGrp="1"/>
          </p:cNvSpPr>
          <p:nvPr>
            <p:ph type="title"/>
          </p:nvPr>
        </p:nvSpPr>
        <p:spPr>
          <a:xfrm>
            <a:off x="1068550" y="3107009"/>
            <a:ext cx="10512448" cy="643981"/>
          </a:xfrm>
        </p:spPr>
        <p:txBody>
          <a:bodyPr/>
          <a:lstStyle/>
          <a:p>
            <a:pPr algn="ctr"/>
            <a:r>
              <a:rPr lang="en-US" sz="3600" cap="none" dirty="0"/>
              <a:t>The motion of a person or an object can be described using the concepts of distance, time, and speed. </a:t>
            </a:r>
          </a:p>
        </p:txBody>
      </p:sp>
    </p:spTree>
    <p:extLst>
      <p:ext uri="{BB962C8B-B14F-4D97-AF65-F5344CB8AC3E}">
        <p14:creationId xmlns:p14="http://schemas.microsoft.com/office/powerpoint/2010/main" val="3738305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1332710" y="527316"/>
            <a:ext cx="9060970" cy="5632311"/>
          </a:xfrm>
          <a:prstGeom prst="rect">
            <a:avLst/>
          </a:prstGeom>
          <a:noFill/>
        </p:spPr>
        <p:txBody>
          <a:bodyPr wrap="square">
            <a:spAutoFit/>
          </a:bodyPr>
          <a:lstStyle/>
          <a:p>
            <a:pPr algn="just"/>
            <a:r>
              <a:rPr lang="en-US" sz="4000" dirty="0">
                <a:effectLst/>
                <a:latin typeface="Calibri" panose="020F0502020204030204" pitchFamily="34" charset="0"/>
                <a:ea typeface="Calibri" panose="020F0502020204030204" pitchFamily="34" charset="0"/>
              </a:rPr>
              <a:t>● Distance is a measure of how far two points are from each other. It can be measured using a ruler, a meter stick, or a tape measure. </a:t>
            </a:r>
          </a:p>
          <a:p>
            <a:pPr algn="just"/>
            <a:r>
              <a:rPr lang="en-US" sz="4000" dirty="0">
                <a:effectLst/>
                <a:latin typeface="Calibri" panose="020F0502020204030204" pitchFamily="34" charset="0"/>
                <a:ea typeface="Calibri" panose="020F0502020204030204" pitchFamily="34" charset="0"/>
              </a:rPr>
              <a:t>● Time is a measure of the duration of an event taking place. It can be measured with a watch. </a:t>
            </a:r>
          </a:p>
          <a:p>
            <a:pPr algn="just"/>
            <a:r>
              <a:rPr lang="en-US" sz="4000" dirty="0">
                <a:effectLst/>
                <a:latin typeface="Calibri" panose="020F0502020204030204" pitchFamily="34" charset="0"/>
                <a:ea typeface="Calibri" panose="020F0502020204030204" pitchFamily="34" charset="0"/>
              </a:rPr>
              <a:t>● Speed is a measure of how fast an object moves.</a:t>
            </a:r>
          </a:p>
        </p:txBody>
      </p:sp>
    </p:spTree>
    <p:extLst>
      <p:ext uri="{BB962C8B-B14F-4D97-AF65-F5344CB8AC3E}">
        <p14:creationId xmlns:p14="http://schemas.microsoft.com/office/powerpoint/2010/main" val="413892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730B8F-6EAB-88A9-A1D8-A261C44D7AF9}"/>
              </a:ext>
            </a:extLst>
          </p:cNvPr>
          <p:cNvSpPr txBox="1"/>
          <p:nvPr/>
        </p:nvSpPr>
        <p:spPr>
          <a:xfrm>
            <a:off x="1153160" y="193378"/>
            <a:ext cx="9885680" cy="5632311"/>
          </a:xfrm>
          <a:prstGeom prst="rect">
            <a:avLst/>
          </a:prstGeom>
          <a:noFill/>
        </p:spPr>
        <p:txBody>
          <a:bodyPr wrap="square">
            <a:spAutoFit/>
          </a:bodyPr>
          <a:lstStyle/>
          <a:p>
            <a:r>
              <a:rPr lang="en-US" sz="3600" b="1" dirty="0"/>
              <a:t>How do you compute speed?</a:t>
            </a:r>
          </a:p>
          <a:p>
            <a:endParaRPr lang="en-US" sz="3600" b="1" dirty="0"/>
          </a:p>
          <a:p>
            <a:r>
              <a:rPr lang="en-US" sz="3600" dirty="0"/>
              <a:t>Follow the following steps below: </a:t>
            </a:r>
          </a:p>
          <a:p>
            <a:endParaRPr lang="en-US" sz="3600" dirty="0"/>
          </a:p>
          <a:p>
            <a:r>
              <a:rPr lang="en-US" sz="3600" dirty="0"/>
              <a:t>1. </a:t>
            </a:r>
            <a:r>
              <a:rPr lang="en-US" sz="3600" b="1" dirty="0"/>
              <a:t>Determine the Distance (d): </a:t>
            </a:r>
            <a:r>
              <a:rPr lang="en-US" sz="3600" dirty="0"/>
              <a:t>Measure the total path length covered by the object. This could be the length of a racetrack, the distance a car travels, or any other relevant measurement. Use appropriate units such as meters (m) or kilometers (km).</a:t>
            </a:r>
          </a:p>
        </p:txBody>
      </p:sp>
    </p:spTree>
    <p:extLst>
      <p:ext uri="{BB962C8B-B14F-4D97-AF65-F5344CB8AC3E}">
        <p14:creationId xmlns:p14="http://schemas.microsoft.com/office/powerpoint/2010/main" val="2644790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E9358-A4BB-4D8C-1A5E-E390559287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5630D7-6FA3-BA0D-D3E1-9809857B7327}"/>
              </a:ext>
            </a:extLst>
          </p:cNvPr>
          <p:cNvSpPr txBox="1"/>
          <p:nvPr/>
        </p:nvSpPr>
        <p:spPr>
          <a:xfrm>
            <a:off x="1254760" y="965538"/>
            <a:ext cx="9885680" cy="3970318"/>
          </a:xfrm>
          <a:prstGeom prst="rect">
            <a:avLst/>
          </a:prstGeom>
          <a:noFill/>
        </p:spPr>
        <p:txBody>
          <a:bodyPr wrap="square">
            <a:spAutoFit/>
          </a:bodyPr>
          <a:lstStyle/>
          <a:p>
            <a:endParaRPr lang="en-US" sz="3600" dirty="0"/>
          </a:p>
          <a:p>
            <a:r>
              <a:rPr lang="en-US" sz="3600" dirty="0"/>
              <a:t>2. </a:t>
            </a:r>
            <a:r>
              <a:rPr lang="en-US" sz="3600" b="1" dirty="0"/>
              <a:t>Determine the Time (t): </a:t>
            </a:r>
            <a:r>
              <a:rPr lang="en-US" sz="3600" dirty="0"/>
              <a:t>Measure the duration it takes for the object to cover the specified distance. Use a stopwatch, timer, or any other time-keeping device. Time is typically measured in seconds (s), minutes (min), or hours (h).</a:t>
            </a:r>
          </a:p>
        </p:txBody>
      </p:sp>
    </p:spTree>
    <p:extLst>
      <p:ext uri="{BB962C8B-B14F-4D97-AF65-F5344CB8AC3E}">
        <p14:creationId xmlns:p14="http://schemas.microsoft.com/office/powerpoint/2010/main" val="3508654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06C46B0-17FD-C1F0-519C-74BBB56DC18A}"/>
                  </a:ext>
                </a:extLst>
              </p:cNvPr>
              <p:cNvSpPr txBox="1"/>
              <p:nvPr/>
            </p:nvSpPr>
            <p:spPr>
              <a:xfrm>
                <a:off x="1219200" y="551161"/>
                <a:ext cx="10139680" cy="5755678"/>
              </a:xfrm>
              <a:prstGeom prst="rect">
                <a:avLst/>
              </a:prstGeom>
              <a:noFill/>
            </p:spPr>
            <p:txBody>
              <a:bodyPr wrap="square">
                <a:spAutoFit/>
              </a:bodyPr>
              <a:lstStyle/>
              <a:p>
                <a:pPr algn="just">
                  <a:lnSpc>
                    <a:spcPct val="107000"/>
                  </a:lnSpc>
                  <a:spcBef>
                    <a:spcPts val="100"/>
                  </a:spcBef>
                  <a:spcAft>
                    <a:spcPts val="100"/>
                  </a:spcAft>
                </a:pPr>
                <a:r>
                  <a:rPr lang="en-PH" sz="2800" b="1"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3. Apply the Formula:</a:t>
                </a:r>
                <a:endParaRPr lang="en-PH" sz="36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Bef>
                    <a:spcPts val="100"/>
                  </a:spcBef>
                  <a:spcAft>
                    <a:spcPts val="100"/>
                  </a:spcAft>
                </a:pPr>
                <a:r>
                  <a:rPr lang="en-PH" sz="28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 Use the formula for speed: </a:t>
                </a:r>
                <a14:m>
                  <m:oMath xmlns:m="http://schemas.openxmlformats.org/officeDocument/2006/math">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𝑠𝑝𝑒𝑒𝑑</m:t>
                    </m:r>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ctrlPr>
                      </m:fPr>
                      <m:num>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𝑑𝑖𝑠𝑡𝑎𝑛𝑐𝑒</m:t>
                        </m:r>
                      </m:num>
                      <m:den>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𝑡𝑖𝑚𝑒</m:t>
                        </m:r>
                      </m:den>
                    </m:f>
                  </m:oMath>
                </a14:m>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Bef>
                    <a:spcPts val="100"/>
                  </a:spcBef>
                  <a:spcAft>
                    <a:spcPts val="100"/>
                  </a:spcAft>
                </a:pPr>
                <a:r>
                  <a:rPr lang="en-PH" sz="28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 Substitute the measured values of distance and time into the formula.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Bef>
                    <a:spcPts val="100"/>
                  </a:spcBef>
                  <a:spcAft>
                    <a:spcPts val="100"/>
                  </a:spcAft>
                </a:pPr>
                <a:r>
                  <a:rPr lang="en-PH" sz="28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 Calculate the Speed: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Bef>
                    <a:spcPts val="100"/>
                  </a:spcBef>
                  <a:spcAft>
                    <a:spcPts val="100"/>
                  </a:spcAft>
                </a:pPr>
                <a:r>
                  <a:rPr lang="en-PH" sz="28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d. Perform the calculation to find the speed. Ensure that the units are consistent.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Bef>
                    <a:spcPts val="100"/>
                  </a:spcBef>
                  <a:spcAft>
                    <a:spcPts val="100"/>
                  </a:spcAft>
                </a:pPr>
                <a:r>
                  <a:rPr lang="en-PH" sz="28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 To compute speed, divide the distance traveled by the time it takes to travel the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Bef>
                    <a:spcPts val="100"/>
                  </a:spcBef>
                  <a:spcAft>
                    <a:spcPts val="100"/>
                  </a:spcAft>
                </a:pPr>
                <a:r>
                  <a:rPr lang="en-PH" sz="28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distance.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Bef>
                    <a:spcPts val="100"/>
                  </a:spcBef>
                  <a:spcAft>
                    <a:spcPts val="100"/>
                  </a:spcAft>
                </a:pPr>
                <a:r>
                  <a:rPr lang="en-PH" sz="28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In symbol </a:t>
                </a:r>
                <a14:m>
                  <m:oMath xmlns:m="http://schemas.openxmlformats.org/officeDocument/2006/math">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𝑠</m:t>
                    </m:r>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ctrlPr>
                      </m:fPr>
                      <m:num>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𝑑</m:t>
                        </m:r>
                      </m:num>
                      <m:den>
                        <m:r>
                          <a:rPr lang="en-PH" sz="2800" i="1" kern="100">
                            <a:solidFill>
                              <a:srgbClr val="000000"/>
                            </a:solidFill>
                            <a:effectLst/>
                            <a:latin typeface="Cambria Math" panose="02040503050406030204" pitchFamily="18" charset="0"/>
                            <a:ea typeface="Arial" panose="020B0604020202020204" pitchFamily="34" charset="0"/>
                            <a:cs typeface="Times New Roman" panose="02020603050405020304" pitchFamily="18" charset="0"/>
                          </a:rPr>
                          <m:t>𝑡</m:t>
                        </m:r>
                      </m:den>
                    </m:f>
                  </m:oMath>
                </a14:m>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F06C46B0-17FD-C1F0-519C-74BBB56DC18A}"/>
                  </a:ext>
                </a:extLst>
              </p:cNvPr>
              <p:cNvSpPr txBox="1">
                <a:spLocks noRot="1" noChangeAspect="1" noMove="1" noResize="1" noEditPoints="1" noAdjustHandles="1" noChangeArrowheads="1" noChangeShapeType="1" noTextEdit="1"/>
              </p:cNvSpPr>
              <p:nvPr/>
            </p:nvSpPr>
            <p:spPr>
              <a:xfrm>
                <a:off x="1219200" y="551161"/>
                <a:ext cx="10139680" cy="5755678"/>
              </a:xfrm>
              <a:prstGeom prst="rect">
                <a:avLst/>
              </a:prstGeom>
              <a:blipFill>
                <a:blip r:embed="rId3"/>
                <a:stretch>
                  <a:fillRect l="-1203" t="-1058" r="-1203" b="-212"/>
                </a:stretch>
              </a:blipFill>
            </p:spPr>
            <p:txBody>
              <a:bodyPr/>
              <a:lstStyle/>
              <a:p>
                <a:r>
                  <a:rPr lang="en-PH">
                    <a:noFill/>
                  </a:rPr>
                  <a:t> </a:t>
                </a:r>
              </a:p>
            </p:txBody>
          </p:sp>
        </mc:Fallback>
      </mc:AlternateContent>
    </p:spTree>
    <p:extLst>
      <p:ext uri="{BB962C8B-B14F-4D97-AF65-F5344CB8AC3E}">
        <p14:creationId xmlns:p14="http://schemas.microsoft.com/office/powerpoint/2010/main" val="16436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5BC833C-8F2D-DE46-9618-5603C8F87FFE}"/>
              </a:ext>
            </a:extLst>
          </p:cNvPr>
          <p:cNvSpPr txBox="1"/>
          <p:nvPr/>
        </p:nvSpPr>
        <p:spPr>
          <a:xfrm>
            <a:off x="1016000" y="165576"/>
            <a:ext cx="10525760" cy="2554545"/>
          </a:xfrm>
          <a:prstGeom prst="rect">
            <a:avLst/>
          </a:prstGeom>
          <a:noFill/>
        </p:spPr>
        <p:txBody>
          <a:bodyPr wrap="square">
            <a:spAutoFit/>
          </a:bodyPr>
          <a:lstStyle/>
          <a:p>
            <a:r>
              <a:rPr lang="en-US" sz="3200" dirty="0"/>
              <a:t>To easily remember the speed formula, we present it using the triangle at the right. On the triangle's base, in the bottom left, we put speed and time in the bottom right, while in the upper corner, we put distance.</a:t>
            </a:r>
            <a:endParaRPr lang="en-PH" sz="3200" dirty="0"/>
          </a:p>
        </p:txBody>
      </p:sp>
      <p:pic>
        <p:nvPicPr>
          <p:cNvPr id="7" name="Picture 6">
            <a:extLst>
              <a:ext uri="{FF2B5EF4-FFF2-40B4-BE49-F238E27FC236}">
                <a16:creationId xmlns:a16="http://schemas.microsoft.com/office/drawing/2014/main" id="{2FAE01A2-891F-39C2-47C1-E96B3F52BBB6}"/>
              </a:ext>
            </a:extLst>
          </p:cNvPr>
          <p:cNvPicPr>
            <a:picLocks noChangeAspect="1"/>
          </p:cNvPicPr>
          <p:nvPr/>
        </p:nvPicPr>
        <p:blipFill>
          <a:blip r:embed="rId3"/>
          <a:stretch>
            <a:fillRect/>
          </a:stretch>
        </p:blipFill>
        <p:spPr>
          <a:xfrm>
            <a:off x="3358673" y="2355067"/>
            <a:ext cx="5474653" cy="4337357"/>
          </a:xfrm>
          <a:prstGeom prst="rect">
            <a:avLst/>
          </a:prstGeom>
        </p:spPr>
      </p:pic>
    </p:spTree>
    <p:extLst>
      <p:ext uri="{BB962C8B-B14F-4D97-AF65-F5344CB8AC3E}">
        <p14:creationId xmlns:p14="http://schemas.microsoft.com/office/powerpoint/2010/main" val="4136724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4CD72-DE12-7744-E5D1-76A1D01FA9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F01F4C-D77A-3C81-7FA3-9F57A01FCE26}"/>
              </a:ext>
            </a:extLst>
          </p:cNvPr>
          <p:cNvSpPr txBox="1"/>
          <p:nvPr/>
        </p:nvSpPr>
        <p:spPr>
          <a:xfrm>
            <a:off x="1178560" y="471438"/>
            <a:ext cx="10119360" cy="5909310"/>
          </a:xfrm>
          <a:prstGeom prst="rect">
            <a:avLst/>
          </a:prstGeom>
          <a:noFill/>
        </p:spPr>
        <p:txBody>
          <a:bodyPr wrap="square">
            <a:spAutoFit/>
          </a:bodyPr>
          <a:lstStyle/>
          <a:p>
            <a:r>
              <a:rPr lang="en-PH" sz="3600" i="1" dirty="0">
                <a:solidFill>
                  <a:srgbClr val="000000"/>
                </a:solidFill>
                <a:effectLst/>
                <a:latin typeface="Times New Roman" panose="02020603050405020304" pitchFamily="18" charset="0"/>
                <a:ea typeface="Arial" panose="020B0604020202020204" pitchFamily="34" charset="0"/>
              </a:rPr>
              <a:t>4. </a:t>
            </a:r>
            <a:r>
              <a:rPr lang="en-PH" sz="3600" b="1" i="1" dirty="0">
                <a:solidFill>
                  <a:srgbClr val="000000"/>
                </a:solidFill>
                <a:effectLst/>
                <a:latin typeface="Times New Roman" panose="02020603050405020304" pitchFamily="18" charset="0"/>
                <a:ea typeface="Arial" panose="020B0604020202020204" pitchFamily="34" charset="0"/>
              </a:rPr>
              <a:t>Expressing the Result:</a:t>
            </a:r>
            <a:r>
              <a:rPr lang="en-PH" sz="3600" b="1" dirty="0">
                <a:solidFill>
                  <a:srgbClr val="000000"/>
                </a:solidFill>
                <a:effectLst/>
                <a:latin typeface="Times New Roman" panose="02020603050405020304" pitchFamily="18" charset="0"/>
                <a:ea typeface="Arial" panose="020B0604020202020204" pitchFamily="34" charset="0"/>
              </a:rPr>
              <a:t> </a:t>
            </a:r>
          </a:p>
          <a:p>
            <a:endParaRPr lang="en-PH" dirty="0"/>
          </a:p>
          <a:p>
            <a:r>
              <a:rPr lang="en-PH" sz="3600" dirty="0">
                <a:solidFill>
                  <a:srgbClr val="000000"/>
                </a:solidFill>
                <a:effectLst/>
                <a:latin typeface="Times New Roman" panose="02020603050405020304" pitchFamily="18" charset="0"/>
                <a:ea typeface="Arial" panose="020B0604020202020204" pitchFamily="34" charset="0"/>
              </a:rPr>
              <a:t>Report the calculated speed in the appropriate units. Common units for speed include meters per second (m/s) or kilometers per hour (km/h), depending on the context. Additionally, in real-world scenarios, choosing an appropriate reference point and a coordinate system is crucial when measuring distance and time, especially for moving objects. The choice of reference point can affect how speed is perceived and measured.</a:t>
            </a:r>
            <a:endParaRPr lang="en-PH" sz="3600" dirty="0"/>
          </a:p>
        </p:txBody>
      </p:sp>
    </p:spTree>
    <p:extLst>
      <p:ext uri="{BB962C8B-B14F-4D97-AF65-F5344CB8AC3E}">
        <p14:creationId xmlns:p14="http://schemas.microsoft.com/office/powerpoint/2010/main" val="3384257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B1E744-9CED-5106-BFF5-883BE73072E4}"/>
              </a:ext>
            </a:extLst>
          </p:cNvPr>
          <p:cNvSpPr txBox="1"/>
          <p:nvPr/>
        </p:nvSpPr>
        <p:spPr>
          <a:xfrm>
            <a:off x="1229360" y="927576"/>
            <a:ext cx="9550400" cy="3785652"/>
          </a:xfrm>
          <a:prstGeom prst="rect">
            <a:avLst/>
          </a:prstGeom>
          <a:noFill/>
        </p:spPr>
        <p:txBody>
          <a:bodyPr wrap="square">
            <a:spAutoFit/>
          </a:bodyPr>
          <a:lstStyle/>
          <a:p>
            <a:r>
              <a:rPr lang="en-US" sz="4000" dirty="0"/>
              <a:t>Discuss how real-life situations, such as cars on the road or athletes running a race, use speed to make decisions. </a:t>
            </a:r>
          </a:p>
          <a:p>
            <a:endParaRPr lang="en-US" sz="4000" dirty="0"/>
          </a:p>
          <a:p>
            <a:r>
              <a:rPr lang="en-US" sz="4000" b="1" dirty="0"/>
              <a:t>How does the concept of speed affect our decisions in daily life?</a:t>
            </a:r>
          </a:p>
        </p:txBody>
      </p:sp>
    </p:spTree>
    <p:extLst>
      <p:ext uri="{BB962C8B-B14F-4D97-AF65-F5344CB8AC3E}">
        <p14:creationId xmlns:p14="http://schemas.microsoft.com/office/powerpoint/2010/main" val="2274215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45976-E910-21CA-66E0-3CC16F0A6A7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6CFB293-5ED2-C720-8377-573421CD91BD}"/>
              </a:ext>
            </a:extLst>
          </p:cNvPr>
          <p:cNvSpPr txBox="1"/>
          <p:nvPr/>
        </p:nvSpPr>
        <p:spPr>
          <a:xfrm>
            <a:off x="1320800" y="1669256"/>
            <a:ext cx="9550400" cy="2554545"/>
          </a:xfrm>
          <a:prstGeom prst="rect">
            <a:avLst/>
          </a:prstGeom>
          <a:noFill/>
        </p:spPr>
        <p:txBody>
          <a:bodyPr wrap="square">
            <a:spAutoFit/>
          </a:bodyPr>
          <a:lstStyle/>
          <a:p>
            <a:r>
              <a:rPr lang="en-US" sz="4000" dirty="0"/>
              <a:t>Ask students to reflect on and generalize how they might encounter speed in their daily lives, from walking to school to watching cars on the road.</a:t>
            </a:r>
            <a:endParaRPr lang="en-US" sz="4000" b="1" dirty="0"/>
          </a:p>
        </p:txBody>
      </p:sp>
    </p:spTree>
    <p:extLst>
      <p:ext uri="{BB962C8B-B14F-4D97-AF65-F5344CB8AC3E}">
        <p14:creationId xmlns:p14="http://schemas.microsoft.com/office/powerpoint/2010/main" val="4019106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A1D09-941B-EA4D-68B8-248651056E0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BFC93DF-7524-0617-9566-FB98155B42CD}"/>
              </a:ext>
            </a:extLst>
          </p:cNvPr>
          <p:cNvSpPr txBox="1"/>
          <p:nvPr/>
        </p:nvSpPr>
        <p:spPr>
          <a:xfrm>
            <a:off x="1320800" y="1669256"/>
            <a:ext cx="9550400" cy="1938992"/>
          </a:xfrm>
          <a:prstGeom prst="rect">
            <a:avLst/>
          </a:prstGeom>
          <a:noFill/>
        </p:spPr>
        <p:txBody>
          <a:bodyPr wrap="square">
            <a:spAutoFit/>
          </a:bodyPr>
          <a:lstStyle/>
          <a:p>
            <a:r>
              <a:rPr lang="en-US" sz="4000" dirty="0"/>
              <a:t>Ask students to write down one thing they learned about speed and one question they still have.</a:t>
            </a:r>
            <a:endParaRPr lang="en-US" sz="4000" b="1" dirty="0"/>
          </a:p>
        </p:txBody>
      </p:sp>
    </p:spTree>
    <p:extLst>
      <p:ext uri="{BB962C8B-B14F-4D97-AF65-F5344CB8AC3E}">
        <p14:creationId xmlns:p14="http://schemas.microsoft.com/office/powerpoint/2010/main" val="2053074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a:xfrm>
            <a:off x="4233675" y="-1950135"/>
            <a:ext cx="7527401" cy="5140212"/>
          </a:xfrm>
        </p:spPr>
        <p:txBody>
          <a:bodyPr/>
          <a:lstStyle/>
          <a:p>
            <a:r>
              <a:rPr lang="en-US" sz="19900" dirty="0"/>
              <a:t>DAY 2</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p:pic>
    </p:spTree>
    <p:extLst>
      <p:ext uri="{BB962C8B-B14F-4D97-AF65-F5344CB8AC3E}">
        <p14:creationId xmlns:p14="http://schemas.microsoft.com/office/powerpoint/2010/main" val="4111494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977110" y="1245999"/>
            <a:ext cx="10654340" cy="3785652"/>
          </a:xfrm>
          <a:prstGeom prst="rect">
            <a:avLst/>
          </a:prstGeom>
          <a:noFill/>
        </p:spPr>
        <p:txBody>
          <a:bodyPr wrap="square">
            <a:spAutoFit/>
          </a:bodyPr>
          <a:lstStyle/>
          <a:p>
            <a:pPr algn="just"/>
            <a:r>
              <a:rPr lang="en-US" sz="4000" dirty="0">
                <a:effectLst/>
                <a:latin typeface="Calibri" panose="020F0502020204030204" pitchFamily="34" charset="0"/>
                <a:ea typeface="Calibri" panose="020F0502020204030204" pitchFamily="34" charset="0"/>
              </a:rPr>
              <a:t>Ask students about their experiences with motion.</a:t>
            </a:r>
          </a:p>
          <a:p>
            <a:pPr algn="just"/>
            <a:r>
              <a:rPr lang="en-US" sz="4000" dirty="0">
                <a:effectLst/>
                <a:latin typeface="Calibri" panose="020F0502020204030204" pitchFamily="34" charset="0"/>
                <a:ea typeface="Calibri" panose="020F0502020204030204" pitchFamily="34" charset="0"/>
              </a:rPr>
              <a:t>Prompt them with questions:</a:t>
            </a:r>
          </a:p>
          <a:p>
            <a:pPr algn="just"/>
            <a:endParaRPr lang="en-US" sz="4000" dirty="0">
              <a:effectLst/>
              <a:latin typeface="Calibri" panose="020F0502020204030204" pitchFamily="34" charset="0"/>
              <a:ea typeface="Calibri" panose="020F0502020204030204" pitchFamily="34" charset="0"/>
            </a:endParaRPr>
          </a:p>
          <a:p>
            <a:pPr algn="just"/>
            <a:r>
              <a:rPr lang="en-US" sz="4000" dirty="0">
                <a:effectLst/>
                <a:latin typeface="Calibri" panose="020F0502020204030204" pitchFamily="34" charset="0"/>
                <a:ea typeface="Calibri" panose="020F0502020204030204" pitchFamily="34" charset="0"/>
              </a:rPr>
              <a:t>"What happens when you walk faster?"</a:t>
            </a:r>
          </a:p>
          <a:p>
            <a:pPr algn="just"/>
            <a:r>
              <a:rPr lang="en-US" sz="4000" dirty="0">
                <a:effectLst/>
                <a:latin typeface="Calibri" panose="020F0502020204030204" pitchFamily="34" charset="0"/>
                <a:ea typeface="Calibri" panose="020F0502020204030204" pitchFamily="34" charset="0"/>
              </a:rPr>
              <a:t>"Have you ever raced someone? </a:t>
            </a:r>
          </a:p>
          <a:p>
            <a:pPr algn="just"/>
            <a:r>
              <a:rPr lang="en-US" sz="4000" dirty="0">
                <a:effectLst/>
                <a:latin typeface="Calibri" panose="020F0502020204030204" pitchFamily="34" charset="0"/>
                <a:ea typeface="Calibri" panose="020F0502020204030204" pitchFamily="34" charset="0"/>
              </a:rPr>
              <a:t>What did you notice about speed?"</a:t>
            </a:r>
          </a:p>
        </p:txBody>
      </p:sp>
    </p:spTree>
    <p:extLst>
      <p:ext uri="{BB962C8B-B14F-4D97-AF65-F5344CB8AC3E}">
        <p14:creationId xmlns:p14="http://schemas.microsoft.com/office/powerpoint/2010/main" val="2126446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B16C72-1E1F-5491-7AB2-A661C4057476}"/>
              </a:ext>
            </a:extLst>
          </p:cNvPr>
          <p:cNvSpPr txBox="1"/>
          <p:nvPr/>
        </p:nvSpPr>
        <p:spPr>
          <a:xfrm>
            <a:off x="1229360" y="585088"/>
            <a:ext cx="10231120" cy="5908284"/>
          </a:xfrm>
          <a:prstGeom prst="rect">
            <a:avLst/>
          </a:prstGeom>
          <a:noFill/>
        </p:spPr>
        <p:txBody>
          <a:bodyPr wrap="square">
            <a:spAutoFit/>
          </a:bodyPr>
          <a:lstStyle/>
          <a:p>
            <a:pPr algn="just">
              <a:lnSpc>
                <a:spcPct val="107000"/>
              </a:lnSpc>
              <a:spcAft>
                <a:spcPts val="800"/>
              </a:spcAft>
            </a:pPr>
            <a:r>
              <a:rPr lang="en-PH" sz="3200" b="1" kern="100" dirty="0">
                <a:effectLst/>
                <a:latin typeface="Times New Roman" panose="02020603050405020304" pitchFamily="18" charset="0"/>
                <a:ea typeface="Aptos" panose="020B0004020202020204" pitchFamily="34" charset="0"/>
                <a:cs typeface="Times New Roman" panose="02020603050405020304" pitchFamily="18" charset="0"/>
              </a:rPr>
              <a:t>Video viewing</a:t>
            </a: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(5 minutes)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Show the YouTube video titled “What is Speed? | Science for Kids”</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PH" sz="3200" b="1" kern="100" dirty="0">
                <a:effectLst/>
                <a:latin typeface="Times New Roman" panose="02020603050405020304" pitchFamily="18" charset="0"/>
                <a:ea typeface="Aptos" panose="020B0004020202020204" pitchFamily="34" charset="0"/>
                <a:cs typeface="Times New Roman" panose="02020603050405020304" pitchFamily="18" charset="0"/>
              </a:rPr>
              <a:t>Guide questions: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a. What new information or lesson have you learned from the video?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b. What happens to speed if the distance increases?"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3200" i="1" dirty="0">
                <a:effectLst/>
                <a:latin typeface="Times New Roman" panose="02020603050405020304" pitchFamily="18" charset="0"/>
                <a:ea typeface="Aptos" panose="020B0004020202020204" pitchFamily="34" charset="0"/>
              </a:rPr>
              <a:t>"If an object moves the same distance in less time, what happens to its speed?"</a:t>
            </a:r>
            <a:endParaRPr lang="en-PH" sz="3200" dirty="0"/>
          </a:p>
        </p:txBody>
      </p:sp>
    </p:spTree>
    <p:extLst>
      <p:ext uri="{BB962C8B-B14F-4D97-AF65-F5344CB8AC3E}">
        <p14:creationId xmlns:p14="http://schemas.microsoft.com/office/powerpoint/2010/main" val="3627267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4E936-54EF-C351-D4B8-2F63CD117D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538D9E-5361-920B-7006-4DA142163677}"/>
              </a:ext>
            </a:extLst>
          </p:cNvPr>
          <p:cNvSpPr txBox="1"/>
          <p:nvPr/>
        </p:nvSpPr>
        <p:spPr>
          <a:xfrm>
            <a:off x="1004263" y="540797"/>
            <a:ext cx="10654340" cy="5262979"/>
          </a:xfrm>
          <a:prstGeom prst="rect">
            <a:avLst/>
          </a:prstGeom>
          <a:noFill/>
        </p:spPr>
        <p:txBody>
          <a:bodyPr wrap="square">
            <a:spAutoFit/>
          </a:bodyPr>
          <a:lstStyle/>
          <a:p>
            <a:pPr algn="just"/>
            <a:r>
              <a:rPr lang="en-US" sz="4800" b="1" dirty="0">
                <a:effectLst/>
                <a:latin typeface="Calibri" panose="020F0502020204030204" pitchFamily="34" charset="0"/>
                <a:ea typeface="Calibri" panose="020F0502020204030204" pitchFamily="34" charset="0"/>
              </a:rPr>
              <a:t>Definitions:</a:t>
            </a:r>
          </a:p>
          <a:p>
            <a:pPr algn="just"/>
            <a:r>
              <a:rPr lang="en-US" sz="3600" dirty="0">
                <a:effectLst/>
                <a:latin typeface="Calibri" panose="020F0502020204030204" pitchFamily="34" charset="0"/>
                <a:ea typeface="Calibri" panose="020F0502020204030204" pitchFamily="34" charset="0"/>
              </a:rPr>
              <a:t>1. </a:t>
            </a:r>
            <a:r>
              <a:rPr lang="en-US" sz="3600" b="1" dirty="0">
                <a:effectLst/>
                <a:latin typeface="Calibri" panose="020F0502020204030204" pitchFamily="34" charset="0"/>
                <a:ea typeface="Calibri" panose="020F0502020204030204" pitchFamily="34" charset="0"/>
              </a:rPr>
              <a:t>Position</a:t>
            </a:r>
            <a:r>
              <a:rPr lang="en-US" sz="3600" dirty="0">
                <a:effectLst/>
                <a:latin typeface="Calibri" panose="020F0502020204030204" pitchFamily="34" charset="0"/>
                <a:ea typeface="Calibri" panose="020F0502020204030204" pitchFamily="34" charset="0"/>
              </a:rPr>
              <a:t> - a place or point where something or someone is located or has been placed in relation to other things </a:t>
            </a:r>
          </a:p>
          <a:p>
            <a:pPr algn="just"/>
            <a:r>
              <a:rPr lang="en-US" sz="3600" dirty="0">
                <a:effectLst/>
                <a:latin typeface="Calibri" panose="020F0502020204030204" pitchFamily="34" charset="0"/>
                <a:ea typeface="Calibri" panose="020F0502020204030204" pitchFamily="34" charset="0"/>
              </a:rPr>
              <a:t>2.</a:t>
            </a:r>
            <a:r>
              <a:rPr lang="en-US" sz="3600" b="1" dirty="0">
                <a:effectLst/>
                <a:latin typeface="Calibri" panose="020F0502020204030204" pitchFamily="34" charset="0"/>
                <a:ea typeface="Calibri" panose="020F0502020204030204" pitchFamily="34" charset="0"/>
              </a:rPr>
              <a:t> Distance </a:t>
            </a:r>
            <a:r>
              <a:rPr lang="en-US" sz="3600" dirty="0">
                <a:effectLst/>
                <a:latin typeface="Calibri" panose="020F0502020204030204" pitchFamily="34" charset="0"/>
                <a:ea typeface="Calibri" panose="020F0502020204030204" pitchFamily="34" charset="0"/>
              </a:rPr>
              <a:t>- describes the length of the path traveled by a person or object from the initial position to the final position; describes how far a moving object or person has traveled </a:t>
            </a:r>
          </a:p>
          <a:p>
            <a:pPr algn="just"/>
            <a:r>
              <a:rPr lang="en-US" sz="3600" dirty="0">
                <a:effectLst/>
                <a:latin typeface="Calibri" panose="020F0502020204030204" pitchFamily="34" charset="0"/>
                <a:ea typeface="Calibri" panose="020F0502020204030204" pitchFamily="34" charset="0"/>
              </a:rPr>
              <a:t>3. </a:t>
            </a:r>
            <a:r>
              <a:rPr lang="en-US" sz="3600" b="1" dirty="0">
                <a:effectLst/>
                <a:latin typeface="Calibri" panose="020F0502020204030204" pitchFamily="34" charset="0"/>
                <a:ea typeface="Calibri" panose="020F0502020204030204" pitchFamily="34" charset="0"/>
              </a:rPr>
              <a:t>Time</a:t>
            </a:r>
            <a:r>
              <a:rPr lang="en-US" sz="3600" dirty="0">
                <a:effectLst/>
                <a:latin typeface="Calibri" panose="020F0502020204030204" pitchFamily="34" charset="0"/>
                <a:ea typeface="Calibri" panose="020F0502020204030204" pitchFamily="34" charset="0"/>
              </a:rPr>
              <a:t> - is the duration of an event </a:t>
            </a:r>
          </a:p>
        </p:txBody>
      </p:sp>
    </p:spTree>
    <p:extLst>
      <p:ext uri="{BB962C8B-B14F-4D97-AF65-F5344CB8AC3E}">
        <p14:creationId xmlns:p14="http://schemas.microsoft.com/office/powerpoint/2010/main" val="19082718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1004263" y="540797"/>
            <a:ext cx="10654340" cy="5816977"/>
          </a:xfrm>
          <a:prstGeom prst="rect">
            <a:avLst/>
          </a:prstGeom>
          <a:noFill/>
        </p:spPr>
        <p:txBody>
          <a:bodyPr wrap="square">
            <a:spAutoFit/>
          </a:bodyPr>
          <a:lstStyle/>
          <a:p>
            <a:pPr algn="just"/>
            <a:r>
              <a:rPr lang="en-US" sz="4800" b="1" dirty="0">
                <a:effectLst/>
                <a:latin typeface="Calibri" panose="020F0502020204030204" pitchFamily="34" charset="0"/>
                <a:ea typeface="Calibri" panose="020F0502020204030204" pitchFamily="34" charset="0"/>
              </a:rPr>
              <a:t>Definitions:</a:t>
            </a:r>
          </a:p>
          <a:p>
            <a:pPr algn="just"/>
            <a:r>
              <a:rPr lang="en-US" sz="3600" dirty="0">
                <a:effectLst/>
                <a:latin typeface="Calibri" panose="020F0502020204030204" pitchFamily="34" charset="0"/>
                <a:ea typeface="Calibri" panose="020F0502020204030204" pitchFamily="34" charset="0"/>
              </a:rPr>
              <a:t>4. </a:t>
            </a:r>
            <a:r>
              <a:rPr lang="en-US" sz="3600" b="1" dirty="0">
                <a:effectLst/>
                <a:latin typeface="Calibri" panose="020F0502020204030204" pitchFamily="34" charset="0"/>
                <a:ea typeface="Calibri" panose="020F0502020204030204" pitchFamily="34" charset="0"/>
              </a:rPr>
              <a:t>Speed</a:t>
            </a:r>
            <a:r>
              <a:rPr lang="en-US" sz="3600" dirty="0">
                <a:effectLst/>
                <a:latin typeface="Calibri" panose="020F0502020204030204" pitchFamily="34" charset="0"/>
                <a:ea typeface="Calibri" panose="020F0502020204030204" pitchFamily="34" charset="0"/>
              </a:rPr>
              <a:t> - describes how fast or slow an object or person has traveled </a:t>
            </a:r>
          </a:p>
          <a:p>
            <a:pPr algn="just"/>
            <a:r>
              <a:rPr lang="en-US" sz="3600" dirty="0">
                <a:effectLst/>
                <a:latin typeface="Calibri" panose="020F0502020204030204" pitchFamily="34" charset="0"/>
                <a:ea typeface="Calibri" panose="020F0502020204030204" pitchFamily="34" charset="0"/>
              </a:rPr>
              <a:t>5. </a:t>
            </a:r>
            <a:r>
              <a:rPr lang="en-US" sz="3600" b="1" dirty="0">
                <a:effectLst/>
                <a:latin typeface="Calibri" panose="020F0502020204030204" pitchFamily="34" charset="0"/>
                <a:ea typeface="Calibri" panose="020F0502020204030204" pitchFamily="34" charset="0"/>
              </a:rPr>
              <a:t>Measure</a:t>
            </a:r>
            <a:r>
              <a:rPr lang="en-US" sz="3600" dirty="0">
                <a:effectLst/>
                <a:latin typeface="Calibri" panose="020F0502020204030204" pitchFamily="34" charset="0"/>
                <a:ea typeface="Calibri" panose="020F0502020204030204" pitchFamily="34" charset="0"/>
              </a:rPr>
              <a:t> - quantifying the length, width, and many more quantities </a:t>
            </a:r>
          </a:p>
          <a:p>
            <a:pPr algn="just"/>
            <a:r>
              <a:rPr lang="en-US" sz="3600" dirty="0">
                <a:effectLst/>
                <a:latin typeface="Calibri" panose="020F0502020204030204" pitchFamily="34" charset="0"/>
                <a:ea typeface="Calibri" panose="020F0502020204030204" pitchFamily="34" charset="0"/>
              </a:rPr>
              <a:t>6. </a:t>
            </a:r>
            <a:r>
              <a:rPr lang="en-US" sz="3600" b="1" dirty="0">
                <a:effectLst/>
                <a:latin typeface="Calibri" panose="020F0502020204030204" pitchFamily="34" charset="0"/>
                <a:ea typeface="Calibri" panose="020F0502020204030204" pitchFamily="34" charset="0"/>
              </a:rPr>
              <a:t>Frame of Reference </a:t>
            </a:r>
            <a:r>
              <a:rPr lang="en-US" sz="3600" dirty="0">
                <a:effectLst/>
                <a:latin typeface="Calibri" panose="020F0502020204030204" pitchFamily="34" charset="0"/>
                <a:ea typeface="Calibri" panose="020F0502020204030204" pitchFamily="34" charset="0"/>
              </a:rPr>
              <a:t>- a set of coordinates that can be used to determine the position and motion of an object. </a:t>
            </a:r>
          </a:p>
          <a:p>
            <a:pPr algn="just"/>
            <a:r>
              <a:rPr lang="en-US" sz="3600" dirty="0">
                <a:effectLst/>
                <a:latin typeface="Calibri" panose="020F0502020204030204" pitchFamily="34" charset="0"/>
                <a:ea typeface="Calibri" panose="020F0502020204030204" pitchFamily="34" charset="0"/>
              </a:rPr>
              <a:t>7. </a:t>
            </a:r>
            <a:r>
              <a:rPr lang="en-US" sz="3600" b="1" dirty="0">
                <a:effectLst/>
                <a:latin typeface="Calibri" panose="020F0502020204030204" pitchFamily="34" charset="0"/>
                <a:ea typeface="Calibri" panose="020F0502020204030204" pitchFamily="34" charset="0"/>
              </a:rPr>
              <a:t>Meters per second (m/s) </a:t>
            </a:r>
            <a:r>
              <a:rPr lang="en-US" sz="3600" dirty="0">
                <a:effectLst/>
                <a:latin typeface="Calibri" panose="020F0502020204030204" pitchFamily="34" charset="0"/>
                <a:ea typeface="Calibri" panose="020F0502020204030204" pitchFamily="34" charset="0"/>
              </a:rPr>
              <a:t>- A common unit for measuring speed in the International System of Units (SI).</a:t>
            </a:r>
          </a:p>
        </p:txBody>
      </p:sp>
    </p:spTree>
    <p:extLst>
      <p:ext uri="{BB962C8B-B14F-4D97-AF65-F5344CB8AC3E}">
        <p14:creationId xmlns:p14="http://schemas.microsoft.com/office/powerpoint/2010/main" val="2432307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1004263" y="288548"/>
            <a:ext cx="10654340" cy="5632311"/>
          </a:xfrm>
          <a:prstGeom prst="rect">
            <a:avLst/>
          </a:prstGeom>
          <a:noFill/>
        </p:spPr>
        <p:txBody>
          <a:bodyPr wrap="square">
            <a:spAutoFit/>
          </a:bodyPr>
          <a:lstStyle/>
          <a:p>
            <a:pPr algn="just"/>
            <a:r>
              <a:rPr lang="en-US" sz="3600" dirty="0">
                <a:effectLst/>
                <a:latin typeface="Calibri" panose="020F0502020204030204" pitchFamily="34" charset="0"/>
                <a:ea typeface="Calibri" panose="020F0502020204030204" pitchFamily="34" charset="0"/>
              </a:rPr>
              <a:t>Worked Example </a:t>
            </a:r>
          </a:p>
          <a:p>
            <a:pPr algn="just"/>
            <a:r>
              <a:rPr lang="en-US" sz="3600" dirty="0">
                <a:effectLst/>
                <a:latin typeface="Calibri" panose="020F0502020204030204" pitchFamily="34" charset="0"/>
                <a:ea typeface="Calibri" panose="020F0502020204030204" pitchFamily="34" charset="0"/>
              </a:rPr>
              <a:t>Steps to solve word problems: </a:t>
            </a:r>
          </a:p>
          <a:p>
            <a:pPr algn="just"/>
            <a:r>
              <a:rPr lang="en-US" sz="3600" dirty="0">
                <a:effectLst/>
                <a:latin typeface="Calibri" panose="020F0502020204030204" pitchFamily="34" charset="0"/>
                <a:ea typeface="Calibri" panose="020F0502020204030204" pitchFamily="34" charset="0"/>
              </a:rPr>
              <a:t>1. Read and understand the problem. </a:t>
            </a:r>
          </a:p>
          <a:p>
            <a:pPr algn="just"/>
            <a:r>
              <a:rPr lang="en-US" sz="3600" dirty="0">
                <a:effectLst/>
                <a:latin typeface="Calibri" panose="020F0502020204030204" pitchFamily="34" charset="0"/>
                <a:ea typeface="Calibri" panose="020F0502020204030204" pitchFamily="34" charset="0"/>
              </a:rPr>
              <a:t>2. Identify what is known (given values) and unknown (what is asked). </a:t>
            </a:r>
          </a:p>
          <a:p>
            <a:pPr algn="just"/>
            <a:r>
              <a:rPr lang="en-US" sz="3600" dirty="0">
                <a:effectLst/>
                <a:latin typeface="Calibri" panose="020F0502020204030204" pitchFamily="34" charset="0"/>
                <a:ea typeface="Calibri" panose="020F0502020204030204" pitchFamily="34" charset="0"/>
              </a:rPr>
              <a:t>3. Determine the formula to use in computing the unknown. </a:t>
            </a:r>
          </a:p>
          <a:p>
            <a:pPr algn="just"/>
            <a:r>
              <a:rPr lang="en-US" sz="3600" dirty="0">
                <a:effectLst/>
                <a:latin typeface="Calibri" panose="020F0502020204030204" pitchFamily="34" charset="0"/>
                <a:ea typeface="Calibri" panose="020F0502020204030204" pitchFamily="34" charset="0"/>
              </a:rPr>
              <a:t>4. Substitute the given values in the formula.  </a:t>
            </a:r>
          </a:p>
          <a:p>
            <a:pPr algn="just"/>
            <a:r>
              <a:rPr lang="en-US" sz="3600" dirty="0">
                <a:effectLst/>
                <a:latin typeface="Calibri" panose="020F0502020204030204" pitchFamily="34" charset="0"/>
                <a:ea typeface="Calibri" panose="020F0502020204030204" pitchFamily="34" charset="0"/>
              </a:rPr>
              <a:t>5. Write the final answer with the correct unit of measure.</a:t>
            </a:r>
          </a:p>
        </p:txBody>
      </p:sp>
    </p:spTree>
    <p:extLst>
      <p:ext uri="{BB962C8B-B14F-4D97-AF65-F5344CB8AC3E}">
        <p14:creationId xmlns:p14="http://schemas.microsoft.com/office/powerpoint/2010/main" val="3615950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1138533" y="657354"/>
            <a:ext cx="9732054" cy="4832092"/>
          </a:xfrm>
          <a:prstGeom prst="rect">
            <a:avLst/>
          </a:prstGeom>
          <a:noFill/>
        </p:spPr>
        <p:txBody>
          <a:bodyPr wrap="square">
            <a:spAutoFit/>
          </a:bodyPr>
          <a:lstStyle/>
          <a:p>
            <a:pPr marL="742950" indent="-742950" algn="just">
              <a:buAutoNum type="alphaLcPeriod"/>
            </a:pPr>
            <a:r>
              <a:rPr lang="en-US" sz="4400" b="1" dirty="0">
                <a:effectLst/>
                <a:latin typeface="Calibri" panose="020F0502020204030204" pitchFamily="34" charset="0"/>
                <a:ea typeface="Calibri" panose="020F0502020204030204" pitchFamily="34" charset="0"/>
              </a:rPr>
              <a:t>Problem-solving: Motion Problems </a:t>
            </a:r>
          </a:p>
          <a:p>
            <a:pPr algn="just"/>
            <a:endParaRPr lang="en-US" sz="4400" b="1" dirty="0">
              <a:effectLst/>
              <a:latin typeface="Calibri" panose="020F0502020204030204" pitchFamily="34" charset="0"/>
              <a:ea typeface="Calibri" panose="020F0502020204030204" pitchFamily="34" charset="0"/>
            </a:endParaRPr>
          </a:p>
          <a:p>
            <a:pPr algn="just"/>
            <a:r>
              <a:rPr lang="en-US" sz="4400" dirty="0">
                <a:effectLst/>
                <a:latin typeface="Calibri" panose="020F0502020204030204" pitchFamily="34" charset="0"/>
                <a:ea typeface="Calibri" panose="020F0502020204030204" pitchFamily="34" charset="0"/>
              </a:rPr>
              <a:t>Let’s answer the sample problem below. </a:t>
            </a:r>
          </a:p>
          <a:p>
            <a:pPr algn="just"/>
            <a:r>
              <a:rPr lang="en-US" sz="4400" dirty="0">
                <a:effectLst/>
                <a:latin typeface="Calibri" panose="020F0502020204030204" pitchFamily="34" charset="0"/>
                <a:ea typeface="Calibri" panose="020F0502020204030204" pitchFamily="34" charset="0"/>
              </a:rPr>
              <a:t>1. A female </a:t>
            </a:r>
            <a:r>
              <a:rPr lang="en-US" sz="4400" dirty="0" err="1">
                <a:effectLst/>
                <a:latin typeface="Calibri" panose="020F0502020204030204" pitchFamily="34" charset="0"/>
                <a:ea typeface="Calibri" panose="020F0502020204030204" pitchFamily="34" charset="0"/>
              </a:rPr>
              <a:t>Palarong</a:t>
            </a:r>
            <a:r>
              <a:rPr lang="en-US" sz="4400" dirty="0">
                <a:effectLst/>
                <a:latin typeface="Calibri" panose="020F0502020204030204" pitchFamily="34" charset="0"/>
                <a:ea typeface="Calibri" panose="020F0502020204030204" pitchFamily="34" charset="0"/>
              </a:rPr>
              <a:t> Pambansa sprinter from Negros Oriental finished the 100-m dash competition in 10 seconds. What was her speed?</a:t>
            </a:r>
          </a:p>
        </p:txBody>
      </p:sp>
    </p:spTree>
    <p:extLst>
      <p:ext uri="{BB962C8B-B14F-4D97-AF65-F5344CB8AC3E}">
        <p14:creationId xmlns:p14="http://schemas.microsoft.com/office/powerpoint/2010/main" val="123320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BA2DA3-3E70-DE6F-1360-29E3C9F0D116}"/>
              </a:ext>
            </a:extLst>
          </p:cNvPr>
          <p:cNvPicPr>
            <a:picLocks noChangeAspect="1"/>
          </p:cNvPicPr>
          <p:nvPr/>
        </p:nvPicPr>
        <p:blipFill>
          <a:blip r:embed="rId3"/>
          <a:stretch>
            <a:fillRect/>
          </a:stretch>
        </p:blipFill>
        <p:spPr>
          <a:xfrm>
            <a:off x="1218882" y="377676"/>
            <a:ext cx="9134158" cy="6102648"/>
          </a:xfrm>
          <a:prstGeom prst="rect">
            <a:avLst/>
          </a:prstGeom>
        </p:spPr>
      </p:pic>
    </p:spTree>
    <p:extLst>
      <p:ext uri="{BB962C8B-B14F-4D97-AF65-F5344CB8AC3E}">
        <p14:creationId xmlns:p14="http://schemas.microsoft.com/office/powerpoint/2010/main" val="3632406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986922" y="169966"/>
            <a:ext cx="10512448" cy="2062103"/>
          </a:xfrm>
          <a:prstGeom prst="rect">
            <a:avLst/>
          </a:prstGeom>
          <a:noFill/>
        </p:spPr>
        <p:txBody>
          <a:bodyPr wrap="square">
            <a:spAutoFit/>
          </a:bodyPr>
          <a:lstStyle/>
          <a:p>
            <a:pPr algn="just"/>
            <a:r>
              <a:rPr lang="en-US" sz="3200" dirty="0">
                <a:effectLst/>
                <a:latin typeface="Calibri" panose="020F0502020204030204" pitchFamily="34" charset="0"/>
                <a:ea typeface="Calibri" panose="020F0502020204030204" pitchFamily="34" charset="0"/>
              </a:rPr>
              <a:t>2. Recess time is almost over, so a Grade 4 pupil walks fast from the canteen to her classroom for 20 seconds. Her classroom is 10 meters from the canteen. </a:t>
            </a:r>
          </a:p>
          <a:p>
            <a:pPr algn="just"/>
            <a:r>
              <a:rPr lang="en-US" sz="3200" dirty="0">
                <a:effectLst/>
                <a:latin typeface="Calibri" panose="020F0502020204030204" pitchFamily="34" charset="0"/>
                <a:ea typeface="Calibri" panose="020F0502020204030204" pitchFamily="34" charset="0"/>
              </a:rPr>
              <a:t>How fast did she walk?</a:t>
            </a:r>
          </a:p>
        </p:txBody>
      </p:sp>
      <p:pic>
        <p:nvPicPr>
          <p:cNvPr id="5" name="Picture 4">
            <a:extLst>
              <a:ext uri="{FF2B5EF4-FFF2-40B4-BE49-F238E27FC236}">
                <a16:creationId xmlns:a16="http://schemas.microsoft.com/office/drawing/2014/main" id="{1DE0495D-49E5-4E86-6D33-FE3B7BD1B5A2}"/>
              </a:ext>
            </a:extLst>
          </p:cNvPr>
          <p:cNvPicPr>
            <a:picLocks noChangeAspect="1"/>
          </p:cNvPicPr>
          <p:nvPr/>
        </p:nvPicPr>
        <p:blipFill>
          <a:blip r:embed="rId3"/>
          <a:stretch>
            <a:fillRect/>
          </a:stretch>
        </p:blipFill>
        <p:spPr>
          <a:xfrm>
            <a:off x="3020362" y="2330135"/>
            <a:ext cx="6445568" cy="4357899"/>
          </a:xfrm>
          <a:prstGeom prst="rect">
            <a:avLst/>
          </a:prstGeom>
        </p:spPr>
      </p:pic>
    </p:spTree>
    <p:extLst>
      <p:ext uri="{BB962C8B-B14F-4D97-AF65-F5344CB8AC3E}">
        <p14:creationId xmlns:p14="http://schemas.microsoft.com/office/powerpoint/2010/main" val="608068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148081" y="304800"/>
            <a:ext cx="10109996" cy="2103120"/>
          </a:xfrm>
          <a:prstGeom prst="rect">
            <a:avLst/>
          </a:prstGeom>
        </p:spPr>
        <p:txBody>
          <a:bodyPr vert="horz" lIns="0" tIns="0" rIns="0" bIns="0" rtlCol="0" anchor="ctr" anchorCtr="0">
            <a:normAutofit fontScale="92500" lnSpcReduction="20000"/>
          </a:bodyPr>
          <a:lstStyle/>
          <a:p>
            <a:pPr>
              <a:spcBef>
                <a:spcPts val="1000"/>
              </a:spcBef>
              <a:buFont typeface="Arial" panose="020B0604020202020204" pitchFamily="34" charset="0"/>
            </a:pPr>
            <a:r>
              <a:rPr lang="en-US" sz="2800" b="1" dirty="0">
                <a:effectLst/>
              </a:rPr>
              <a:t>Lesson Activity (25-30 minutes)</a:t>
            </a:r>
          </a:p>
          <a:p>
            <a:pPr>
              <a:spcBef>
                <a:spcPts val="1000"/>
              </a:spcBef>
              <a:buFont typeface="Arial" panose="020B0604020202020204" pitchFamily="34" charset="0"/>
            </a:pPr>
            <a:r>
              <a:rPr lang="en-US" sz="2800" b="1" dirty="0">
                <a:effectLst/>
              </a:rPr>
              <a:t>a. Problem-solving: Motion Problems </a:t>
            </a:r>
          </a:p>
          <a:p>
            <a:pPr>
              <a:spcBef>
                <a:spcPts val="1000"/>
              </a:spcBef>
              <a:buFont typeface="Arial" panose="020B0604020202020204" pitchFamily="34" charset="0"/>
            </a:pPr>
            <a:r>
              <a:rPr lang="en-US" sz="2800" dirty="0">
                <a:effectLst/>
              </a:rPr>
              <a:t>Let’s answer the sample problems below: </a:t>
            </a:r>
          </a:p>
          <a:p>
            <a:pPr>
              <a:spcBef>
                <a:spcPts val="1000"/>
              </a:spcBef>
              <a:buFont typeface="Arial" panose="020B0604020202020204" pitchFamily="34" charset="0"/>
            </a:pPr>
            <a:r>
              <a:rPr lang="en-US" sz="2800" dirty="0">
                <a:effectLst/>
              </a:rPr>
              <a:t>1. The Philippine eagle is the national bird of the Philippines. If it can travel 100 kilometers in one hour, what is its speed?</a:t>
            </a:r>
          </a:p>
        </p:txBody>
      </p:sp>
      <p:pic>
        <p:nvPicPr>
          <p:cNvPr id="2" name="Picture 1" descr="A white rectangular box with black text&#10;&#10;Description automatically generated">
            <a:extLst>
              <a:ext uri="{FF2B5EF4-FFF2-40B4-BE49-F238E27FC236}">
                <a16:creationId xmlns:a16="http://schemas.microsoft.com/office/drawing/2014/main" id="{57099B3C-0C64-BE2D-5FED-008550DCC712}"/>
              </a:ext>
            </a:extLst>
          </p:cNvPr>
          <p:cNvPicPr>
            <a:picLocks noChangeAspect="1"/>
          </p:cNvPicPr>
          <p:nvPr/>
        </p:nvPicPr>
        <p:blipFill>
          <a:blip r:embed="rId3"/>
          <a:stretch>
            <a:fillRect/>
          </a:stretch>
        </p:blipFill>
        <p:spPr>
          <a:xfrm>
            <a:off x="1808179" y="2529840"/>
            <a:ext cx="9164621" cy="3894964"/>
          </a:xfrm>
          <a:prstGeom prst="rect">
            <a:avLst/>
          </a:prstGeom>
          <a:noFill/>
        </p:spPr>
      </p:pic>
    </p:spTree>
    <p:extLst>
      <p:ext uri="{BB962C8B-B14F-4D97-AF65-F5344CB8AC3E}">
        <p14:creationId xmlns:p14="http://schemas.microsoft.com/office/powerpoint/2010/main" val="3142074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007242" y="191688"/>
            <a:ext cx="10512448" cy="2062103"/>
          </a:xfrm>
          <a:prstGeom prst="rect">
            <a:avLst/>
          </a:prstGeom>
          <a:noFill/>
        </p:spPr>
        <p:txBody>
          <a:bodyPr wrap="square">
            <a:spAutoFit/>
          </a:bodyPr>
          <a:lstStyle/>
          <a:p>
            <a:pPr algn="just"/>
            <a:r>
              <a:rPr lang="en-US" sz="3200" dirty="0">
                <a:effectLst/>
                <a:latin typeface="Calibri" panose="020F0502020204030204" pitchFamily="34" charset="0"/>
                <a:ea typeface="Calibri" panose="020F0502020204030204" pitchFamily="34" charset="0"/>
              </a:rPr>
              <a:t>2. The Philippine tarsier is famous for being the smallest monkey in the world. These tiny creatures like to stay high up in the trees and jump from branch to branch in the jungle. They can travel 20 kilometers in 0.5 hour. Determine its speed.</a:t>
            </a:r>
          </a:p>
        </p:txBody>
      </p:sp>
      <p:pic>
        <p:nvPicPr>
          <p:cNvPr id="5" name="Picture 4">
            <a:extLst>
              <a:ext uri="{FF2B5EF4-FFF2-40B4-BE49-F238E27FC236}">
                <a16:creationId xmlns:a16="http://schemas.microsoft.com/office/drawing/2014/main" id="{CB26FDD8-62F0-E998-A802-0013EB1AD9B5}"/>
              </a:ext>
            </a:extLst>
          </p:cNvPr>
          <p:cNvPicPr>
            <a:picLocks noChangeAspect="1"/>
          </p:cNvPicPr>
          <p:nvPr/>
        </p:nvPicPr>
        <p:blipFill>
          <a:blip r:embed="rId3"/>
          <a:srcRect t="733"/>
          <a:stretch/>
        </p:blipFill>
        <p:spPr>
          <a:xfrm>
            <a:off x="1463039" y="2428240"/>
            <a:ext cx="8927831" cy="3677920"/>
          </a:xfrm>
          <a:prstGeom prst="rect">
            <a:avLst/>
          </a:prstGeom>
        </p:spPr>
      </p:pic>
    </p:spTree>
    <p:extLst>
      <p:ext uri="{BB962C8B-B14F-4D97-AF65-F5344CB8AC3E}">
        <p14:creationId xmlns:p14="http://schemas.microsoft.com/office/powerpoint/2010/main" val="3259409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138272" y="1536174"/>
            <a:ext cx="10512448" cy="3170099"/>
          </a:xfrm>
          <a:prstGeom prst="rect">
            <a:avLst/>
          </a:prstGeom>
          <a:noFill/>
        </p:spPr>
        <p:txBody>
          <a:bodyPr wrap="square">
            <a:spAutoFit/>
          </a:bodyPr>
          <a:lstStyle/>
          <a:p>
            <a:pPr algn="just"/>
            <a:r>
              <a:rPr lang="en-US" sz="4000" dirty="0">
                <a:effectLst/>
                <a:latin typeface="Calibri" panose="020F0502020204030204" pitchFamily="34" charset="0"/>
                <a:ea typeface="Calibri" panose="020F0502020204030204" pitchFamily="34" charset="0"/>
              </a:rPr>
              <a:t>Summarize key points:</a:t>
            </a:r>
          </a:p>
          <a:p>
            <a:pPr algn="just"/>
            <a:r>
              <a:rPr lang="en-US" sz="4000" dirty="0">
                <a:effectLst/>
                <a:latin typeface="Calibri" panose="020F0502020204030204" pitchFamily="34" charset="0"/>
                <a:ea typeface="Calibri" panose="020F0502020204030204" pitchFamily="34" charset="0"/>
              </a:rPr>
              <a:t>•	Speed can be calculated by dividing distance by time.</a:t>
            </a:r>
          </a:p>
          <a:p>
            <a:pPr algn="just"/>
            <a:r>
              <a:rPr lang="en-US" sz="4000" dirty="0">
                <a:effectLst/>
                <a:latin typeface="Calibri" panose="020F0502020204030204" pitchFamily="34" charset="0"/>
                <a:ea typeface="Calibri" panose="020F0502020204030204" pitchFamily="34" charset="0"/>
              </a:rPr>
              <a:t>•	If the distance increases, speed increases if the time stays the same.</a:t>
            </a:r>
          </a:p>
        </p:txBody>
      </p:sp>
    </p:spTree>
    <p:extLst>
      <p:ext uri="{BB962C8B-B14F-4D97-AF65-F5344CB8AC3E}">
        <p14:creationId xmlns:p14="http://schemas.microsoft.com/office/powerpoint/2010/main" val="835871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538935A-8CD0-3515-8106-C4D0B2AC852D}"/>
              </a:ext>
            </a:extLst>
          </p:cNvPr>
          <p:cNvSpPr txBox="1"/>
          <p:nvPr/>
        </p:nvSpPr>
        <p:spPr>
          <a:xfrm>
            <a:off x="843280" y="389096"/>
            <a:ext cx="10769600" cy="5262979"/>
          </a:xfrm>
          <a:prstGeom prst="rect">
            <a:avLst/>
          </a:prstGeom>
          <a:noFill/>
        </p:spPr>
        <p:txBody>
          <a:bodyPr wrap="square">
            <a:spAutoFit/>
          </a:bodyPr>
          <a:lstStyle/>
          <a:p>
            <a:r>
              <a:rPr lang="en-US" sz="3600" dirty="0"/>
              <a:t>Ask students to solve a similar problem on their own:</a:t>
            </a:r>
          </a:p>
          <a:p>
            <a:endParaRPr lang="en-US" sz="4400" dirty="0"/>
          </a:p>
          <a:p>
            <a:r>
              <a:rPr lang="en-US" sz="4400" dirty="0"/>
              <a:t>"A car travels 200 meters in 20 seconds. What is its speed?“</a:t>
            </a:r>
          </a:p>
          <a:p>
            <a:endParaRPr lang="en-US" sz="4400" dirty="0"/>
          </a:p>
          <a:p>
            <a:r>
              <a:rPr lang="en-US" sz="4400" dirty="0"/>
              <a:t>Allow time for independent practice and provide feedback.</a:t>
            </a:r>
          </a:p>
        </p:txBody>
      </p:sp>
    </p:spTree>
    <p:extLst>
      <p:ext uri="{BB962C8B-B14F-4D97-AF65-F5344CB8AC3E}">
        <p14:creationId xmlns:p14="http://schemas.microsoft.com/office/powerpoint/2010/main" val="2838722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a:xfrm>
            <a:off x="4233675" y="-1950135"/>
            <a:ext cx="7527401" cy="5140212"/>
          </a:xfrm>
        </p:spPr>
        <p:txBody>
          <a:bodyPr/>
          <a:lstStyle/>
          <a:p>
            <a:r>
              <a:rPr lang="en-US" sz="19900" dirty="0"/>
              <a:t>DAY 3</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p:pic>
    </p:spTree>
    <p:extLst>
      <p:ext uri="{BB962C8B-B14F-4D97-AF65-F5344CB8AC3E}">
        <p14:creationId xmlns:p14="http://schemas.microsoft.com/office/powerpoint/2010/main" val="2659030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436765" y="1406231"/>
            <a:ext cx="7321155" cy="2308324"/>
          </a:xfrm>
          <a:prstGeom prst="rect">
            <a:avLst/>
          </a:prstGeom>
          <a:noFill/>
        </p:spPr>
        <p:txBody>
          <a:bodyPr wrap="square">
            <a:spAutoFit/>
          </a:bodyPr>
          <a:lstStyle/>
          <a:p>
            <a:pPr algn="just"/>
            <a:r>
              <a:rPr lang="en-US" sz="4800" dirty="0">
                <a:effectLst/>
                <a:latin typeface="Calibri" panose="020F0502020204030204" pitchFamily="34" charset="0"/>
                <a:ea typeface="Calibri" panose="020F0502020204030204" pitchFamily="34" charset="0"/>
              </a:rPr>
              <a:t>Briefly review the concepts of motion, speed, and distance with the students.</a:t>
            </a:r>
          </a:p>
        </p:txBody>
      </p:sp>
    </p:spTree>
    <p:extLst>
      <p:ext uri="{BB962C8B-B14F-4D97-AF65-F5344CB8AC3E}">
        <p14:creationId xmlns:p14="http://schemas.microsoft.com/office/powerpoint/2010/main" val="12703287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121805" y="1166842"/>
            <a:ext cx="10360046" cy="4524315"/>
          </a:xfrm>
          <a:prstGeom prst="rect">
            <a:avLst/>
          </a:prstGeom>
          <a:noFill/>
        </p:spPr>
        <p:txBody>
          <a:bodyPr wrap="square">
            <a:spAutoFit/>
          </a:bodyPr>
          <a:lstStyle/>
          <a:p>
            <a:pPr algn="just"/>
            <a:r>
              <a:rPr lang="en-US" sz="3200" b="1" dirty="0">
                <a:effectLst/>
                <a:latin typeface="Calibri" panose="020F0502020204030204" pitchFamily="34" charset="0"/>
                <a:ea typeface="Calibri" panose="020F0502020204030204" pitchFamily="34" charset="0"/>
              </a:rPr>
              <a:t>Explain the activity's objective: </a:t>
            </a:r>
            <a:r>
              <a:rPr lang="en-US" sz="3200" dirty="0">
                <a:effectLst/>
                <a:latin typeface="Calibri" panose="020F0502020204030204" pitchFamily="34" charset="0"/>
                <a:ea typeface="Calibri" panose="020F0502020204030204" pitchFamily="34" charset="0"/>
              </a:rPr>
              <a:t>to conduct a race using toy cars and determine which one is the winner based on their speed. For this activity, you will need toy cars for each group to explore speed. Ensure each group has the same type or model of toy car. You may ask each group to bring one battery-powered or pullback toy car. If there are no available toy cars, you may use a ball or any other toys that can be moved. Since this involves a race/contest, please always establish rules on honesty and safety.</a:t>
            </a:r>
          </a:p>
        </p:txBody>
      </p:sp>
    </p:spTree>
    <p:extLst>
      <p:ext uri="{BB962C8B-B14F-4D97-AF65-F5344CB8AC3E}">
        <p14:creationId xmlns:p14="http://schemas.microsoft.com/office/powerpoint/2010/main" val="10678054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155438" y="1879897"/>
            <a:ext cx="10360046" cy="1323439"/>
          </a:xfrm>
          <a:prstGeom prst="rect">
            <a:avLst/>
          </a:prstGeom>
          <a:noFill/>
        </p:spPr>
        <p:txBody>
          <a:bodyPr wrap="square">
            <a:spAutoFit/>
          </a:bodyPr>
          <a:lstStyle/>
          <a:p>
            <a:pPr algn="just"/>
            <a:r>
              <a:rPr lang="en-US" sz="4000" b="1" dirty="0">
                <a:effectLst/>
                <a:latin typeface="Calibri" panose="020F0502020204030204" pitchFamily="34" charset="0"/>
                <a:ea typeface="Calibri" panose="020F0502020204030204" pitchFamily="34" charset="0"/>
              </a:rPr>
              <a:t>Vocabulary focus:</a:t>
            </a:r>
          </a:p>
          <a:p>
            <a:pPr algn="just"/>
            <a:r>
              <a:rPr lang="en-US" sz="4000" dirty="0">
                <a:effectLst/>
                <a:latin typeface="Calibri" panose="020F0502020204030204" pitchFamily="34" charset="0"/>
                <a:ea typeface="Calibri" panose="020F0502020204030204" pitchFamily="34" charset="0"/>
              </a:rPr>
              <a:t>Speed, Distance, Time, Formula, Unit of Measure</a:t>
            </a:r>
          </a:p>
        </p:txBody>
      </p:sp>
    </p:spTree>
    <p:extLst>
      <p:ext uri="{BB962C8B-B14F-4D97-AF65-F5344CB8AC3E}">
        <p14:creationId xmlns:p14="http://schemas.microsoft.com/office/powerpoint/2010/main" val="9282054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124958" y="640377"/>
            <a:ext cx="10360046" cy="3785652"/>
          </a:xfrm>
          <a:prstGeom prst="rect">
            <a:avLst/>
          </a:prstGeom>
          <a:noFill/>
        </p:spPr>
        <p:txBody>
          <a:bodyPr wrap="square">
            <a:spAutoFit/>
          </a:bodyPr>
          <a:lstStyle/>
          <a:p>
            <a:pPr algn="just"/>
            <a:r>
              <a:rPr lang="en-US" sz="4000" b="1" dirty="0">
                <a:effectLst/>
                <a:latin typeface="Calibri" panose="020F0502020204030204" pitchFamily="34" charset="0"/>
                <a:ea typeface="Calibri" panose="020F0502020204030204" pitchFamily="34" charset="0"/>
              </a:rPr>
              <a:t>Activity 1: Who Wins the Race? (20 minutes) </a:t>
            </a:r>
          </a:p>
          <a:p>
            <a:pPr algn="just"/>
            <a:r>
              <a:rPr lang="en-US" sz="4000" dirty="0">
                <a:effectLst/>
                <a:latin typeface="Calibri" panose="020F0502020204030204" pitchFamily="34" charset="0"/>
                <a:ea typeface="Calibri" panose="020F0502020204030204" pitchFamily="34" charset="0"/>
              </a:rPr>
              <a:t>Instructions: In groups with five members, students conduct a racing activity to determine which toy car is the fastest.  </a:t>
            </a:r>
          </a:p>
          <a:p>
            <a:pPr algn="just"/>
            <a:endParaRPr lang="en-US" sz="4000" dirty="0">
              <a:effectLst/>
              <a:latin typeface="Calibri" panose="020F0502020204030204" pitchFamily="34" charset="0"/>
              <a:ea typeface="Calibri" panose="020F0502020204030204" pitchFamily="34" charset="0"/>
            </a:endParaRPr>
          </a:p>
          <a:p>
            <a:pPr algn="just"/>
            <a:r>
              <a:rPr lang="en-US" sz="4000" dirty="0">
                <a:effectLst/>
                <a:latin typeface="Calibri" panose="020F0502020204030204" pitchFamily="34" charset="0"/>
                <a:ea typeface="Calibri" panose="020F0502020204030204" pitchFamily="34" charset="0"/>
              </a:rPr>
              <a:t> Assign the members of the groups a role to play:</a:t>
            </a:r>
          </a:p>
        </p:txBody>
      </p:sp>
    </p:spTree>
    <p:extLst>
      <p:ext uri="{BB962C8B-B14F-4D97-AF65-F5344CB8AC3E}">
        <p14:creationId xmlns:p14="http://schemas.microsoft.com/office/powerpoint/2010/main" val="1849333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5FC6D49-5C75-8348-FD77-C2E365AB50EF}"/>
              </a:ext>
            </a:extLst>
          </p:cNvPr>
          <p:cNvGraphicFramePr>
            <a:graphicFrameLocks noGrp="1"/>
          </p:cNvGraphicFramePr>
          <p:nvPr>
            <p:extLst>
              <p:ext uri="{D42A27DB-BD31-4B8C-83A1-F6EECF244321}">
                <p14:modId xmlns:p14="http://schemas.microsoft.com/office/powerpoint/2010/main" val="3081909848"/>
              </p:ext>
            </p:extLst>
          </p:nvPr>
        </p:nvGraphicFramePr>
        <p:xfrm>
          <a:off x="1360170" y="510444"/>
          <a:ext cx="8545830" cy="5837112"/>
        </p:xfrm>
        <a:graphic>
          <a:graphicData uri="http://schemas.openxmlformats.org/drawingml/2006/table">
            <a:tbl>
              <a:tblPr firstRow="1" firstCol="1" bandRow="1">
                <a:tableStyleId>{9DCAF9ED-07DC-4A11-8D7F-57B35C25682E}</a:tableStyleId>
              </a:tblPr>
              <a:tblGrid>
                <a:gridCol w="2234760">
                  <a:extLst>
                    <a:ext uri="{9D8B030D-6E8A-4147-A177-3AD203B41FA5}">
                      <a16:colId xmlns:a16="http://schemas.microsoft.com/office/drawing/2014/main" val="617693400"/>
                    </a:ext>
                  </a:extLst>
                </a:gridCol>
                <a:gridCol w="6311070">
                  <a:extLst>
                    <a:ext uri="{9D8B030D-6E8A-4147-A177-3AD203B41FA5}">
                      <a16:colId xmlns:a16="http://schemas.microsoft.com/office/drawing/2014/main" val="1414166191"/>
                    </a:ext>
                  </a:extLst>
                </a:gridCol>
              </a:tblGrid>
              <a:tr h="1265620">
                <a:tc>
                  <a:txBody>
                    <a:bodyPr/>
                    <a:lstStyle/>
                    <a:p>
                      <a:pPr>
                        <a:lnSpc>
                          <a:spcPct val="107000"/>
                        </a:lnSpc>
                        <a:spcAft>
                          <a:spcPts val="800"/>
                        </a:spcAft>
                      </a:pPr>
                      <a:r>
                        <a:rPr lang="en-PH" sz="2100" kern="100">
                          <a:effectLst/>
                        </a:rPr>
                        <a:t>Leader</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tc>
                  <a:txBody>
                    <a:bodyPr/>
                    <a:lstStyle/>
                    <a:p>
                      <a:pPr>
                        <a:lnSpc>
                          <a:spcPct val="107000"/>
                        </a:lnSpc>
                        <a:spcAft>
                          <a:spcPts val="800"/>
                        </a:spcAft>
                      </a:pPr>
                      <a:r>
                        <a:rPr lang="en-PH" sz="2100" kern="100" dirty="0">
                          <a:effectLst/>
                        </a:rPr>
                        <a:t>Responsible for overseeing the cooperation of the group members.</a:t>
                      </a:r>
                      <a:endParaRPr lang="en-PH" sz="3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extLst>
                  <a:ext uri="{0D108BD9-81ED-4DB2-BD59-A6C34878D82A}">
                    <a16:rowId xmlns:a16="http://schemas.microsoft.com/office/drawing/2014/main" val="2281826769"/>
                  </a:ext>
                </a:extLst>
              </a:tr>
              <a:tr h="1094283">
                <a:tc>
                  <a:txBody>
                    <a:bodyPr/>
                    <a:lstStyle/>
                    <a:p>
                      <a:pPr>
                        <a:lnSpc>
                          <a:spcPct val="107000"/>
                        </a:lnSpc>
                        <a:spcAft>
                          <a:spcPts val="800"/>
                        </a:spcAft>
                      </a:pPr>
                      <a:r>
                        <a:rPr lang="en-PH" sz="2100" kern="100">
                          <a:effectLst/>
                        </a:rPr>
                        <a:t>Timer</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tc>
                  <a:txBody>
                    <a:bodyPr/>
                    <a:lstStyle/>
                    <a:p>
                      <a:pPr>
                        <a:lnSpc>
                          <a:spcPct val="107000"/>
                        </a:lnSpc>
                        <a:spcAft>
                          <a:spcPts val="800"/>
                        </a:spcAft>
                      </a:pPr>
                      <a:r>
                        <a:rPr lang="en-PH" sz="2100" kern="100">
                          <a:effectLst/>
                        </a:rPr>
                        <a:t>In charge of measuring the time it takes for the toy car to complete the race using a stopwatch or timer.</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extLst>
                  <a:ext uri="{0D108BD9-81ED-4DB2-BD59-A6C34878D82A}">
                    <a16:rowId xmlns:a16="http://schemas.microsoft.com/office/drawing/2014/main" val="1545559213"/>
                  </a:ext>
                </a:extLst>
              </a:tr>
              <a:tr h="945970">
                <a:tc>
                  <a:txBody>
                    <a:bodyPr/>
                    <a:lstStyle/>
                    <a:p>
                      <a:pPr>
                        <a:lnSpc>
                          <a:spcPct val="107000"/>
                        </a:lnSpc>
                        <a:spcAft>
                          <a:spcPts val="800"/>
                        </a:spcAft>
                      </a:pPr>
                      <a:r>
                        <a:rPr lang="en-PH" sz="2100" kern="100">
                          <a:effectLst/>
                        </a:rPr>
                        <a:t>Recorder</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tc>
                  <a:txBody>
                    <a:bodyPr/>
                    <a:lstStyle/>
                    <a:p>
                      <a:pPr>
                        <a:lnSpc>
                          <a:spcPct val="107000"/>
                        </a:lnSpc>
                        <a:spcAft>
                          <a:spcPts val="800"/>
                        </a:spcAft>
                      </a:pPr>
                      <a:r>
                        <a:rPr lang="en-PH" sz="2100" kern="100">
                          <a:effectLst/>
                        </a:rPr>
                        <a:t>Takes notes and records the toy car’s distance and time of travel.</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extLst>
                  <a:ext uri="{0D108BD9-81ED-4DB2-BD59-A6C34878D82A}">
                    <a16:rowId xmlns:a16="http://schemas.microsoft.com/office/drawing/2014/main" val="2607489269"/>
                  </a:ext>
                </a:extLst>
              </a:tr>
              <a:tr h="945970">
                <a:tc>
                  <a:txBody>
                    <a:bodyPr/>
                    <a:lstStyle/>
                    <a:p>
                      <a:pPr>
                        <a:lnSpc>
                          <a:spcPct val="107000"/>
                        </a:lnSpc>
                        <a:spcAft>
                          <a:spcPts val="800"/>
                        </a:spcAft>
                      </a:pPr>
                      <a:r>
                        <a:rPr lang="en-PH" sz="2100" kern="100">
                          <a:effectLst/>
                        </a:rPr>
                        <a:t>Toy car in-charge</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tc>
                  <a:txBody>
                    <a:bodyPr/>
                    <a:lstStyle/>
                    <a:p>
                      <a:pPr>
                        <a:lnSpc>
                          <a:spcPct val="107000"/>
                        </a:lnSpc>
                        <a:spcAft>
                          <a:spcPts val="800"/>
                        </a:spcAft>
                      </a:pPr>
                      <a:r>
                        <a:rPr lang="en-PH" sz="2100" kern="100">
                          <a:effectLst/>
                        </a:rPr>
                        <a:t>Responsible for handling and releasing the toy cars at the starting line.</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extLst>
                  <a:ext uri="{0D108BD9-81ED-4DB2-BD59-A6C34878D82A}">
                    <a16:rowId xmlns:a16="http://schemas.microsoft.com/office/drawing/2014/main" val="1460483912"/>
                  </a:ext>
                </a:extLst>
              </a:tr>
              <a:tr h="1585269">
                <a:tc>
                  <a:txBody>
                    <a:bodyPr/>
                    <a:lstStyle/>
                    <a:p>
                      <a:pPr>
                        <a:lnSpc>
                          <a:spcPct val="107000"/>
                        </a:lnSpc>
                        <a:spcAft>
                          <a:spcPts val="800"/>
                        </a:spcAft>
                      </a:pPr>
                      <a:r>
                        <a:rPr lang="en-PH" sz="2100" kern="100">
                          <a:effectLst/>
                        </a:rPr>
                        <a:t>Racetrack in-charge</a:t>
                      </a:r>
                      <a:endParaRPr lang="en-PH" sz="3300" kern="10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tc>
                  <a:txBody>
                    <a:bodyPr/>
                    <a:lstStyle/>
                    <a:p>
                      <a:pPr>
                        <a:lnSpc>
                          <a:spcPct val="107000"/>
                        </a:lnSpc>
                        <a:spcAft>
                          <a:spcPts val="800"/>
                        </a:spcAft>
                      </a:pPr>
                      <a:r>
                        <a:rPr lang="en-PH" sz="2100" kern="100" dirty="0">
                          <a:effectLst/>
                        </a:rPr>
                        <a:t>Responsible for checking the group’s racetrack, ensuring that marks at the starting and finishing points are clear.</a:t>
                      </a:r>
                      <a:endParaRPr lang="en-PH" sz="3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08738" marR="208738" marT="0" marB="0"/>
                </a:tc>
                <a:extLst>
                  <a:ext uri="{0D108BD9-81ED-4DB2-BD59-A6C34878D82A}">
                    <a16:rowId xmlns:a16="http://schemas.microsoft.com/office/drawing/2014/main" val="2292435042"/>
                  </a:ext>
                </a:extLst>
              </a:tr>
            </a:tbl>
          </a:graphicData>
        </a:graphic>
      </p:graphicFrame>
    </p:spTree>
    <p:extLst>
      <p:ext uri="{BB962C8B-B14F-4D97-AF65-F5344CB8AC3E}">
        <p14:creationId xmlns:p14="http://schemas.microsoft.com/office/powerpoint/2010/main" val="42240165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F22BD2-F4FF-7380-9D66-BBC5545DD259}"/>
              </a:ext>
            </a:extLst>
          </p:cNvPr>
          <p:cNvSpPr txBox="1"/>
          <p:nvPr/>
        </p:nvSpPr>
        <p:spPr>
          <a:xfrm>
            <a:off x="1168226" y="1290844"/>
            <a:ext cx="10360046" cy="4401205"/>
          </a:xfrm>
          <a:prstGeom prst="rect">
            <a:avLst/>
          </a:prstGeom>
          <a:noFill/>
        </p:spPr>
        <p:txBody>
          <a:bodyPr wrap="square">
            <a:spAutoFit/>
          </a:bodyPr>
          <a:lstStyle/>
          <a:p>
            <a:pPr algn="just"/>
            <a:r>
              <a:rPr lang="en-US" sz="4000" dirty="0">
                <a:latin typeface="Calibri" panose="020F0502020204030204" pitchFamily="34" charset="0"/>
                <a:ea typeface="Calibri" panose="020F0502020204030204" pitchFamily="34" charset="0"/>
              </a:rPr>
              <a:t>Set up the racetrack using markers on the classroom floor or the corridor. Let the racetrack in-charge assist you in measuring and marking the tracks. </a:t>
            </a:r>
          </a:p>
          <a:p>
            <a:pPr algn="just"/>
            <a:endParaRPr lang="en-US" sz="4000" dirty="0">
              <a:latin typeface="Calibri" panose="020F0502020204030204" pitchFamily="34" charset="0"/>
              <a:ea typeface="Calibri" panose="020F0502020204030204" pitchFamily="34" charset="0"/>
            </a:endParaRPr>
          </a:p>
          <a:p>
            <a:pPr algn="just"/>
            <a:r>
              <a:rPr lang="en-US" sz="4000" dirty="0">
                <a:latin typeface="Calibri" panose="020F0502020204030204" pitchFamily="34" charset="0"/>
                <a:ea typeface="Calibri" panose="020F0502020204030204" pitchFamily="34" charset="0"/>
              </a:rPr>
              <a:t>Ask the other students to observe. Recall their Grade 2 math lesson on measuring distances.</a:t>
            </a:r>
          </a:p>
        </p:txBody>
      </p:sp>
    </p:spTree>
    <p:extLst>
      <p:ext uri="{BB962C8B-B14F-4D97-AF65-F5344CB8AC3E}">
        <p14:creationId xmlns:p14="http://schemas.microsoft.com/office/powerpoint/2010/main" val="30279393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E8166B4-0C20-A316-7BBF-0377DDE096E6}"/>
              </a:ext>
            </a:extLst>
          </p:cNvPr>
          <p:cNvSpPr txBox="1"/>
          <p:nvPr/>
        </p:nvSpPr>
        <p:spPr>
          <a:xfrm>
            <a:off x="1087120" y="471139"/>
            <a:ext cx="10586720" cy="5915722"/>
          </a:xfrm>
          <a:prstGeom prst="rect">
            <a:avLst/>
          </a:prstGeom>
          <a:noFill/>
        </p:spPr>
        <p:txBody>
          <a:bodyPr wrap="square">
            <a:spAutoFit/>
          </a:bodyPr>
          <a:lstStyle/>
          <a:p>
            <a:pPr algn="just">
              <a:lnSpc>
                <a:spcPct val="107000"/>
              </a:lnSpc>
              <a:spcAft>
                <a:spcPts val="800"/>
              </a:spcAft>
            </a:pPr>
            <a:r>
              <a:rPr lang="en-PH" sz="3600" i="1" kern="100" dirty="0">
                <a:effectLst/>
                <a:latin typeface="Times New Roman" panose="02020603050405020304" pitchFamily="18" charset="0"/>
                <a:ea typeface="Aptos" panose="020B0004020202020204" pitchFamily="34" charset="0"/>
                <a:cs typeface="Times New Roman" panose="02020603050405020304" pitchFamily="18" charset="0"/>
              </a:rPr>
              <a:t>Group Preparation</a:t>
            </a: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Assign roles within each group (e.g., one student measures distance, one operates the stopwatch, etc.).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Have each group inspect and test their toy car to ensure fair competition.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i="1" kern="100" dirty="0">
                <a:effectLst/>
                <a:latin typeface="Times New Roman" panose="02020603050405020304" pitchFamily="18" charset="0"/>
                <a:ea typeface="Aptos" panose="020B0004020202020204" pitchFamily="34" charset="0"/>
                <a:cs typeface="Times New Roman" panose="02020603050405020304" pitchFamily="18" charset="0"/>
              </a:rPr>
              <a:t>Race Set-up</a:t>
            </a: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Line up all the groups at the starting line.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Explain any specific rules, such as staying within the designated track.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455425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A419-A90F-867B-2196-05689755D5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2528E0-5C8B-4D7C-F06D-318DEC04B601}"/>
              </a:ext>
            </a:extLst>
          </p:cNvPr>
          <p:cNvSpPr txBox="1"/>
          <p:nvPr/>
        </p:nvSpPr>
        <p:spPr>
          <a:xfrm>
            <a:off x="1102360" y="595135"/>
            <a:ext cx="9987280" cy="4983159"/>
          </a:xfrm>
          <a:prstGeom prst="rect">
            <a:avLst/>
          </a:prstGeom>
          <a:noFill/>
        </p:spPr>
        <p:txBody>
          <a:bodyPr wrap="square">
            <a:spAutoFit/>
          </a:bodyPr>
          <a:lstStyle/>
          <a:p>
            <a:pPr algn="just">
              <a:lnSpc>
                <a:spcPct val="107000"/>
              </a:lnSpc>
              <a:spcAft>
                <a:spcPts val="800"/>
              </a:spcAft>
            </a:pPr>
            <a:r>
              <a:rPr lang="en-PH" sz="4000" i="1" kern="100" dirty="0">
                <a:effectLst/>
                <a:latin typeface="Times New Roman" panose="02020603050405020304" pitchFamily="18" charset="0"/>
                <a:ea typeface="Aptos" panose="020B0004020202020204" pitchFamily="34" charset="0"/>
                <a:cs typeface="Times New Roman" panose="02020603050405020304" pitchFamily="18" charset="0"/>
              </a:rPr>
              <a:t>Guide Questions During the Race</a:t>
            </a: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 How will you measure the distance covered by your toy car?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 What factors might affect the speed of your toy car?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 How will you ensure a fair and accurate race?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648556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CEEB9D1-D2F5-A159-4726-B4DC7CAB36DD}"/>
              </a:ext>
            </a:extLst>
          </p:cNvPr>
          <p:cNvSpPr txBox="1"/>
          <p:nvPr/>
        </p:nvSpPr>
        <p:spPr>
          <a:xfrm>
            <a:off x="1076960" y="393479"/>
            <a:ext cx="10312400" cy="5913222"/>
          </a:xfrm>
          <a:prstGeom prst="rect">
            <a:avLst/>
          </a:prstGeom>
          <a:noFill/>
        </p:spPr>
        <p:txBody>
          <a:bodyPr wrap="square">
            <a:spAutoFit/>
          </a:bodyPr>
          <a:lstStyle/>
          <a:p>
            <a:pPr algn="just">
              <a:lnSpc>
                <a:spcPct val="107000"/>
              </a:lnSpc>
              <a:spcAft>
                <a:spcPts val="800"/>
              </a:spcAft>
            </a:pPr>
            <a:r>
              <a:rPr lang="en-PH" sz="2800" i="1" kern="100" dirty="0">
                <a:effectLst/>
                <a:latin typeface="Times New Roman" panose="02020603050405020304" pitchFamily="18" charset="0"/>
                <a:ea typeface="Aptos" panose="020B0004020202020204" pitchFamily="34" charset="0"/>
                <a:cs typeface="Times New Roman" panose="02020603050405020304" pitchFamily="18" charset="0"/>
              </a:rPr>
              <a:t>Race Execution</a:t>
            </a: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 Start the race, and have each group complete the course.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 Ensure that each group measures the distance their toy car traveled.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 In conducting the race, ask everyone to get ready to perform their assigned roles. Ask the toy car in charge to position itself at the starting point. When all of them are ready, give them a go signal for them to release their toy cars at the same time. Depending on the type of toy car, everyone must agree on what is allowed to make it move. At this point, the timers should start recording the time and stop when the toy car reaches the finish line. The recorders then record their data. Do two more trials. Then, ask them to return to their seats to reflect on what they just did and answer the process questions.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460215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0ACB4-4BB0-2D19-4CD8-8D5AF613EC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C1D5F7-5221-5CB8-D466-2D4B671D7B14}"/>
              </a:ext>
            </a:extLst>
          </p:cNvPr>
          <p:cNvSpPr txBox="1"/>
          <p:nvPr/>
        </p:nvSpPr>
        <p:spPr>
          <a:xfrm>
            <a:off x="1310640" y="819151"/>
            <a:ext cx="10464800" cy="3829575"/>
          </a:xfrm>
          <a:prstGeom prst="rect">
            <a:avLst/>
          </a:prstGeom>
          <a:noFill/>
        </p:spPr>
        <p:txBody>
          <a:bodyPr wrap="square">
            <a:spAutoFit/>
          </a:bodyPr>
          <a:lstStyle/>
          <a:p>
            <a:pPr algn="just">
              <a:lnSpc>
                <a:spcPct val="107000"/>
              </a:lnSpc>
              <a:spcAft>
                <a:spcPts val="800"/>
              </a:spcAft>
            </a:pPr>
            <a:r>
              <a:rPr lang="en-PH" sz="3600" i="1" kern="100" dirty="0">
                <a:effectLst/>
                <a:latin typeface="Times New Roman" panose="02020603050405020304" pitchFamily="18" charset="0"/>
                <a:ea typeface="Aptos" panose="020B0004020202020204" pitchFamily="34" charset="0"/>
                <a:cs typeface="Times New Roman" panose="02020603050405020304" pitchFamily="18" charset="0"/>
              </a:rPr>
              <a:t>Group Reflection</a:t>
            </a: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Have each group discuss their strategies, challenges faced, and how they optimized the performance of their toy car.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Discuss the relationship between speed, time, and distance.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984788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D1DA6-D19F-D70D-A4C3-355E646251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80CE14-3AAB-3D24-BBF4-53FC1080EF60}"/>
              </a:ext>
            </a:extLst>
          </p:cNvPr>
          <p:cNvSpPr txBox="1"/>
          <p:nvPr/>
        </p:nvSpPr>
        <p:spPr>
          <a:xfrm>
            <a:off x="1148080" y="568281"/>
            <a:ext cx="9540240" cy="5721438"/>
          </a:xfrm>
          <a:prstGeom prst="rect">
            <a:avLst/>
          </a:prstGeom>
          <a:noFill/>
        </p:spPr>
        <p:txBody>
          <a:bodyPr wrap="square">
            <a:spAutoFit/>
          </a:bodyPr>
          <a:lstStyle/>
          <a:p>
            <a:pPr algn="just">
              <a:lnSpc>
                <a:spcPct val="107000"/>
              </a:lnSpc>
              <a:spcAft>
                <a:spcPts val="800"/>
              </a:spcAft>
            </a:pPr>
            <a:r>
              <a:rPr lang="en-PH" sz="3600" i="1" kern="100" dirty="0">
                <a:effectLst/>
                <a:latin typeface="Times New Roman" panose="02020603050405020304" pitchFamily="18" charset="0"/>
                <a:ea typeface="Aptos" panose="020B0004020202020204" pitchFamily="34" charset="0"/>
                <a:cs typeface="Times New Roman" panose="02020603050405020304" pitchFamily="18" charset="0"/>
              </a:rPr>
              <a:t>Results and Awards</a:t>
            </a: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Announce the winners based on the fastest time or farthest distance.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 Consider giving awards for creativity, teamwork, or innovative strategies.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3600" i="1" kern="100" dirty="0">
                <a:effectLst/>
                <a:latin typeface="Times New Roman" panose="02020603050405020304" pitchFamily="18" charset="0"/>
                <a:ea typeface="Aptos" panose="020B0004020202020204" pitchFamily="34" charset="0"/>
                <a:cs typeface="Times New Roman" panose="02020603050405020304" pitchFamily="18" charset="0"/>
              </a:rPr>
              <a:t>Closure: </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3600" dirty="0">
                <a:effectLst/>
                <a:latin typeface="Times New Roman" panose="02020603050405020304" pitchFamily="18" charset="0"/>
                <a:ea typeface="Aptos" panose="020B0004020202020204" pitchFamily="34" charset="0"/>
              </a:rPr>
              <a:t>● Conclude the activity by discussing the importance of understanding motion and the practical applications of these concepts in real life.</a:t>
            </a:r>
            <a:endParaRPr lang="en-PH" sz="3600" dirty="0"/>
          </a:p>
        </p:txBody>
      </p:sp>
    </p:spTree>
    <p:extLst>
      <p:ext uri="{BB962C8B-B14F-4D97-AF65-F5344CB8AC3E}">
        <p14:creationId xmlns:p14="http://schemas.microsoft.com/office/powerpoint/2010/main" val="15741108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C73EFF-0F74-7FED-27A3-9499B0BB26DF}"/>
              </a:ext>
            </a:extLst>
          </p:cNvPr>
          <p:cNvSpPr txBox="1"/>
          <p:nvPr/>
        </p:nvSpPr>
        <p:spPr>
          <a:xfrm>
            <a:off x="1188720" y="643042"/>
            <a:ext cx="9621520" cy="4652299"/>
          </a:xfrm>
          <a:prstGeom prst="rect">
            <a:avLst/>
          </a:prstGeom>
          <a:noFill/>
        </p:spPr>
        <p:txBody>
          <a:bodyPr wrap="square">
            <a:spAutoFit/>
          </a:bodyPr>
          <a:lstStyle/>
          <a:p>
            <a:pPr algn="just">
              <a:lnSpc>
                <a:spcPct val="107000"/>
              </a:lnSpc>
              <a:spcAft>
                <a:spcPts val="800"/>
              </a:spcAft>
            </a:pPr>
            <a:r>
              <a:rPr lang="en-PH" sz="4400" b="1" kern="100" dirty="0">
                <a:effectLst/>
                <a:latin typeface="Times New Roman" panose="02020603050405020304" pitchFamily="18" charset="0"/>
                <a:ea typeface="Aptos" panose="020B0004020202020204" pitchFamily="34" charset="0"/>
                <a:cs typeface="Times New Roman" panose="02020603050405020304" pitchFamily="18" charset="0"/>
              </a:rPr>
              <a:t>Process questions: </a:t>
            </a:r>
            <a:endParaRPr lang="en-PH" sz="54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400" kern="100" dirty="0">
                <a:effectLst/>
                <a:latin typeface="Times New Roman" panose="02020603050405020304" pitchFamily="18" charset="0"/>
                <a:ea typeface="Aptos" panose="020B0004020202020204" pitchFamily="34" charset="0"/>
                <a:cs typeface="Times New Roman" panose="02020603050405020304" pitchFamily="18" charset="0"/>
              </a:rPr>
              <a:t>1. Which toy car has the shortest travel time? </a:t>
            </a:r>
            <a:endParaRPr lang="en-PH" sz="5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400" kern="100" dirty="0">
                <a:effectLst/>
                <a:latin typeface="Times New Roman" panose="02020603050405020304" pitchFamily="18" charset="0"/>
                <a:ea typeface="Aptos" panose="020B0004020202020204" pitchFamily="34" charset="0"/>
                <a:cs typeface="Times New Roman" panose="02020603050405020304" pitchFamily="18" charset="0"/>
              </a:rPr>
              <a:t>2. Who wins the race? Why? </a:t>
            </a:r>
            <a:endParaRPr lang="en-PH" sz="54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4400" dirty="0">
                <a:effectLst/>
                <a:latin typeface="Times New Roman" panose="02020603050405020304" pitchFamily="18" charset="0"/>
                <a:ea typeface="Aptos" panose="020B0004020202020204" pitchFamily="34" charset="0"/>
              </a:rPr>
              <a:t>3. Why is it important to have accurate measurements when describing motion?</a:t>
            </a:r>
            <a:endParaRPr lang="en-PH" sz="4400" dirty="0"/>
          </a:p>
        </p:txBody>
      </p:sp>
    </p:spTree>
    <p:extLst>
      <p:ext uri="{BB962C8B-B14F-4D97-AF65-F5344CB8AC3E}">
        <p14:creationId xmlns:p14="http://schemas.microsoft.com/office/powerpoint/2010/main" val="37821585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D59749-5889-7B29-8EF1-8581E6D7A096}"/>
              </a:ext>
            </a:extLst>
          </p:cNvPr>
          <p:cNvSpPr txBox="1"/>
          <p:nvPr/>
        </p:nvSpPr>
        <p:spPr>
          <a:xfrm>
            <a:off x="1099030" y="767294"/>
            <a:ext cx="9772170" cy="5078313"/>
          </a:xfrm>
          <a:prstGeom prst="rect">
            <a:avLst/>
          </a:prstGeom>
          <a:noFill/>
        </p:spPr>
        <p:txBody>
          <a:bodyPr wrap="square">
            <a:spAutoFit/>
          </a:bodyPr>
          <a:lstStyle/>
          <a:p>
            <a:pPr algn="just"/>
            <a:r>
              <a:rPr lang="en-US" sz="3600" dirty="0">
                <a:effectLst/>
                <a:latin typeface="Calibri" panose="020F0502020204030204" pitchFamily="34" charset="0"/>
                <a:ea typeface="Calibri" panose="020F0502020204030204" pitchFamily="34" charset="0"/>
              </a:rPr>
              <a:t>During the race, observe each student's involvement in their assigned role. </a:t>
            </a:r>
          </a:p>
          <a:p>
            <a:pPr algn="just"/>
            <a:endParaRPr lang="en-US" sz="3600" dirty="0">
              <a:latin typeface="Calibri" panose="020F0502020204030204" pitchFamily="34" charset="0"/>
              <a:ea typeface="Calibri" panose="020F0502020204030204" pitchFamily="34" charset="0"/>
            </a:endParaRPr>
          </a:p>
          <a:p>
            <a:pPr algn="just"/>
            <a:r>
              <a:rPr lang="en-US" sz="3600" dirty="0">
                <a:effectLst/>
                <a:latin typeface="Calibri" panose="020F0502020204030204" pitchFamily="34" charset="0"/>
                <a:ea typeface="Calibri" panose="020F0502020204030204" pitchFamily="34" charset="0"/>
              </a:rPr>
              <a:t>Were they actively engaged in the task, demonstrating teamwork and cooperation? </a:t>
            </a:r>
          </a:p>
          <a:p>
            <a:pPr algn="just"/>
            <a:endParaRPr lang="en-US" sz="3600" dirty="0">
              <a:latin typeface="Calibri" panose="020F0502020204030204" pitchFamily="34" charset="0"/>
              <a:ea typeface="Calibri" panose="020F0502020204030204" pitchFamily="34" charset="0"/>
            </a:endParaRPr>
          </a:p>
          <a:p>
            <a:pPr algn="just"/>
            <a:r>
              <a:rPr lang="en-US" sz="3600" dirty="0">
                <a:effectLst/>
                <a:latin typeface="Calibri" panose="020F0502020204030204" pitchFamily="34" charset="0"/>
                <a:ea typeface="Calibri" panose="020F0502020204030204" pitchFamily="34" charset="0"/>
              </a:rPr>
              <a:t>Did the group follow the roles assigned (Leader, Timer, Recorder, Toy Car In-Charge, and Racetrack In-Charge)?</a:t>
            </a:r>
          </a:p>
        </p:txBody>
      </p:sp>
    </p:spTree>
    <p:extLst>
      <p:ext uri="{BB962C8B-B14F-4D97-AF65-F5344CB8AC3E}">
        <p14:creationId xmlns:p14="http://schemas.microsoft.com/office/powerpoint/2010/main" val="30254817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a:xfrm>
            <a:off x="4233675" y="-1950135"/>
            <a:ext cx="7527401" cy="5140212"/>
          </a:xfrm>
        </p:spPr>
        <p:txBody>
          <a:bodyPr/>
          <a:lstStyle/>
          <a:p>
            <a:r>
              <a:rPr lang="en-US" sz="19900" dirty="0"/>
              <a:t>DAY 4</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p:pic>
    </p:spTree>
    <p:extLst>
      <p:ext uri="{BB962C8B-B14F-4D97-AF65-F5344CB8AC3E}">
        <p14:creationId xmlns:p14="http://schemas.microsoft.com/office/powerpoint/2010/main" val="15541279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9AAEB7E-AA20-7063-2463-87BA964B211A}"/>
              </a:ext>
            </a:extLst>
          </p:cNvPr>
          <p:cNvSpPr txBox="1"/>
          <p:nvPr/>
        </p:nvSpPr>
        <p:spPr>
          <a:xfrm>
            <a:off x="1330960" y="1005116"/>
            <a:ext cx="9692640" cy="3785652"/>
          </a:xfrm>
          <a:prstGeom prst="rect">
            <a:avLst/>
          </a:prstGeom>
          <a:noFill/>
        </p:spPr>
        <p:txBody>
          <a:bodyPr wrap="square">
            <a:spAutoFit/>
          </a:bodyPr>
          <a:lstStyle/>
          <a:p>
            <a:r>
              <a:rPr lang="en-US" sz="4000" dirty="0"/>
              <a:t>Review the concept of speed from the previous lesson.</a:t>
            </a:r>
          </a:p>
          <a:p>
            <a:endParaRPr lang="en-US" sz="4000" dirty="0"/>
          </a:p>
          <a:p>
            <a:endParaRPr lang="en-US" sz="4000" dirty="0"/>
          </a:p>
          <a:p>
            <a:r>
              <a:rPr lang="en-US" sz="4000" b="1" i="1" dirty="0"/>
              <a:t>"How do you think speed changes when you walk faster or slower?"</a:t>
            </a:r>
          </a:p>
        </p:txBody>
      </p:sp>
    </p:spTree>
    <p:extLst>
      <p:ext uri="{BB962C8B-B14F-4D97-AF65-F5344CB8AC3E}">
        <p14:creationId xmlns:p14="http://schemas.microsoft.com/office/powerpoint/2010/main" val="27683993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B90F0-5F2D-1DC3-1A9C-A9265A55A5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45E84A-453A-2A39-00AD-4A30ED435E86}"/>
              </a:ext>
            </a:extLst>
          </p:cNvPr>
          <p:cNvSpPr txBox="1"/>
          <p:nvPr/>
        </p:nvSpPr>
        <p:spPr>
          <a:xfrm>
            <a:off x="1178560" y="981055"/>
            <a:ext cx="8707120" cy="4154984"/>
          </a:xfrm>
          <a:prstGeom prst="rect">
            <a:avLst/>
          </a:prstGeom>
          <a:noFill/>
        </p:spPr>
        <p:txBody>
          <a:bodyPr wrap="square">
            <a:spAutoFit/>
          </a:bodyPr>
          <a:lstStyle/>
          <a:p>
            <a:r>
              <a:rPr lang="en-PH" sz="4400" dirty="0">
                <a:effectLst/>
                <a:latin typeface="Times New Roman" panose="02020603050405020304" pitchFamily="18" charset="0"/>
                <a:ea typeface="Aptos" panose="020B0004020202020204" pitchFamily="34" charset="0"/>
              </a:rPr>
              <a:t>Emphasize safety as they conduct the walking activity. </a:t>
            </a:r>
          </a:p>
          <a:p>
            <a:endParaRPr lang="en-PH" sz="4400" dirty="0">
              <a:latin typeface="Times New Roman" panose="02020603050405020304" pitchFamily="18" charset="0"/>
              <a:ea typeface="Aptos" panose="020B0004020202020204" pitchFamily="34" charset="0"/>
            </a:endParaRPr>
          </a:p>
          <a:p>
            <a:r>
              <a:rPr lang="en-PH" sz="4400" dirty="0">
                <a:effectLst/>
                <a:latin typeface="Times New Roman" panose="02020603050405020304" pitchFamily="18" charset="0"/>
                <a:ea typeface="Aptos" panose="020B0004020202020204" pitchFamily="34" charset="0"/>
              </a:rPr>
              <a:t>Ask the student to remain close by and watch how other members perform the activity.</a:t>
            </a:r>
            <a:endParaRPr lang="en-PH" sz="4400" dirty="0"/>
          </a:p>
        </p:txBody>
      </p:sp>
    </p:spTree>
    <p:extLst>
      <p:ext uri="{BB962C8B-B14F-4D97-AF65-F5344CB8AC3E}">
        <p14:creationId xmlns:p14="http://schemas.microsoft.com/office/powerpoint/2010/main" val="7060636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3D12-2629-6DCE-8E83-A66FF8ED6A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BC2E85-59F5-6681-9EC6-041B50A5FE0A}"/>
              </a:ext>
            </a:extLst>
          </p:cNvPr>
          <p:cNvSpPr txBox="1"/>
          <p:nvPr/>
        </p:nvSpPr>
        <p:spPr>
          <a:xfrm>
            <a:off x="1259840" y="612844"/>
            <a:ext cx="10668000" cy="4401205"/>
          </a:xfrm>
          <a:prstGeom prst="rect">
            <a:avLst/>
          </a:prstGeom>
          <a:noFill/>
        </p:spPr>
        <p:txBody>
          <a:bodyPr wrap="square">
            <a:spAutoFit/>
          </a:bodyPr>
          <a:lstStyle/>
          <a:p>
            <a:r>
              <a:rPr lang="en-US" sz="4000" b="1" dirty="0"/>
              <a:t>Vocabulary focus: Fast, Slow, Time, Distance</a:t>
            </a:r>
          </a:p>
          <a:p>
            <a:endParaRPr lang="en-US" sz="4000" b="1" dirty="0"/>
          </a:p>
          <a:p>
            <a:r>
              <a:rPr lang="en-US" sz="4000" dirty="0"/>
              <a:t>Use these terms in sentences to reinforce understanding:</a:t>
            </a:r>
          </a:p>
          <a:p>
            <a:r>
              <a:rPr lang="en-US" sz="4000" dirty="0"/>
              <a:t>"The faster you walk, the shorter the time it takes to cover a distance.”</a:t>
            </a:r>
          </a:p>
        </p:txBody>
      </p:sp>
    </p:spTree>
    <p:extLst>
      <p:ext uri="{BB962C8B-B14F-4D97-AF65-F5344CB8AC3E}">
        <p14:creationId xmlns:p14="http://schemas.microsoft.com/office/powerpoint/2010/main" val="4854503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B3B2E-129F-9FC8-B4B8-8D6941A127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72C037-62EC-EEF9-B5FC-E35FFBF0D28F}"/>
              </a:ext>
            </a:extLst>
          </p:cNvPr>
          <p:cNvSpPr txBox="1"/>
          <p:nvPr/>
        </p:nvSpPr>
        <p:spPr>
          <a:xfrm>
            <a:off x="1351280" y="671691"/>
            <a:ext cx="9570720" cy="4832092"/>
          </a:xfrm>
          <a:prstGeom prst="rect">
            <a:avLst/>
          </a:prstGeom>
          <a:noFill/>
        </p:spPr>
        <p:txBody>
          <a:bodyPr wrap="square">
            <a:spAutoFit/>
          </a:bodyPr>
          <a:lstStyle/>
          <a:p>
            <a:r>
              <a:rPr lang="en-PH" sz="4400" dirty="0">
                <a:effectLst/>
                <a:latin typeface="Times New Roman" panose="02020603050405020304" pitchFamily="18" charset="0"/>
                <a:ea typeface="Aptos" panose="020B0004020202020204" pitchFamily="34" charset="0"/>
              </a:rPr>
              <a:t>Remind students: </a:t>
            </a:r>
          </a:p>
          <a:p>
            <a:endParaRPr lang="en-PH" sz="4400" dirty="0">
              <a:latin typeface="Times New Roman" panose="02020603050405020304" pitchFamily="18" charset="0"/>
              <a:ea typeface="Aptos" panose="020B0004020202020204" pitchFamily="34" charset="0"/>
            </a:endParaRPr>
          </a:p>
          <a:p>
            <a:r>
              <a:rPr lang="en-PH" sz="4400" dirty="0">
                <a:effectLst/>
                <a:latin typeface="Times New Roman" panose="02020603050405020304" pitchFamily="18" charset="0"/>
                <a:ea typeface="Aptos" panose="020B0004020202020204" pitchFamily="34" charset="0"/>
              </a:rPr>
              <a:t>"Speed can be determined by dividing the distance traveled by the time taken to travel that distance. In today’s activity, we will use this concept to find out who is the fastest in each group."</a:t>
            </a:r>
            <a:endParaRPr lang="en-PH" sz="4400" dirty="0"/>
          </a:p>
        </p:txBody>
      </p:sp>
    </p:spTree>
    <p:extLst>
      <p:ext uri="{BB962C8B-B14F-4D97-AF65-F5344CB8AC3E}">
        <p14:creationId xmlns:p14="http://schemas.microsoft.com/office/powerpoint/2010/main" val="18770883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215A5-ED5D-FD4C-F197-BE62750F02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FDA2C4-E89C-E8BB-1A72-A66BA071E1CF}"/>
              </a:ext>
            </a:extLst>
          </p:cNvPr>
          <p:cNvSpPr txBox="1"/>
          <p:nvPr/>
        </p:nvSpPr>
        <p:spPr>
          <a:xfrm>
            <a:off x="1300480" y="1302435"/>
            <a:ext cx="9591040" cy="3416320"/>
          </a:xfrm>
          <a:prstGeom prst="rect">
            <a:avLst/>
          </a:prstGeom>
          <a:noFill/>
        </p:spPr>
        <p:txBody>
          <a:bodyPr wrap="square">
            <a:spAutoFit/>
          </a:bodyPr>
          <a:lstStyle/>
          <a:p>
            <a:r>
              <a:rPr lang="en-PH" sz="5400" dirty="0">
                <a:effectLst/>
                <a:latin typeface="Times New Roman" panose="02020603050405020304" pitchFamily="18" charset="0"/>
                <a:ea typeface="Aptos" panose="020B0004020202020204" pitchFamily="34" charset="0"/>
              </a:rPr>
              <a:t>Discuss how different paces (normal, slower, faster) will result in different travel times and speeds.</a:t>
            </a:r>
            <a:endParaRPr lang="en-PH" sz="5400" dirty="0"/>
          </a:p>
        </p:txBody>
      </p:sp>
    </p:spTree>
    <p:extLst>
      <p:ext uri="{BB962C8B-B14F-4D97-AF65-F5344CB8AC3E}">
        <p14:creationId xmlns:p14="http://schemas.microsoft.com/office/powerpoint/2010/main" val="27920366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1CEA-B4AB-2E69-72D8-C7F410EABE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49E654-9940-B4AE-31BB-00581B23F3AC}"/>
              </a:ext>
            </a:extLst>
          </p:cNvPr>
          <p:cNvSpPr txBox="1"/>
          <p:nvPr/>
        </p:nvSpPr>
        <p:spPr>
          <a:xfrm>
            <a:off x="1137920" y="457609"/>
            <a:ext cx="10119360" cy="3563283"/>
          </a:xfrm>
          <a:prstGeom prst="rect">
            <a:avLst/>
          </a:prstGeom>
          <a:noFill/>
        </p:spPr>
        <p:txBody>
          <a:bodyPr wrap="square">
            <a:spAutoFit/>
          </a:bodyPr>
          <a:lstStyle/>
          <a:p>
            <a:pPr algn="just">
              <a:lnSpc>
                <a:spcPct val="107000"/>
              </a:lnSpc>
              <a:spcAft>
                <a:spcPts val="800"/>
              </a:spcAft>
            </a:pPr>
            <a:r>
              <a:rPr lang="en-PH" sz="4000" b="1" kern="100" dirty="0">
                <a:effectLst/>
                <a:latin typeface="Times New Roman" panose="02020603050405020304" pitchFamily="18" charset="0"/>
                <a:ea typeface="Aptos" panose="020B0004020202020204" pitchFamily="34" charset="0"/>
                <a:cs typeface="Times New Roman" panose="02020603050405020304" pitchFamily="18" charset="0"/>
              </a:rPr>
              <a:t>Activity 2: Who is the fastest?</a:t>
            </a: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 (25 minutes)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Instructions: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In groups with five members, students conduct a walking activity to determine how fast or slow each walk is and who walks fastest in the group.</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675372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C73C6-6250-65A5-E127-45C70794E1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E2836D-1F91-7725-6CED-116BE8DA8230}"/>
              </a:ext>
            </a:extLst>
          </p:cNvPr>
          <p:cNvSpPr txBox="1"/>
          <p:nvPr/>
        </p:nvSpPr>
        <p:spPr>
          <a:xfrm>
            <a:off x="944880" y="143258"/>
            <a:ext cx="10474960" cy="6200415"/>
          </a:xfrm>
          <a:prstGeom prst="rect">
            <a:avLst/>
          </a:prstGeom>
          <a:noFill/>
        </p:spPr>
        <p:txBody>
          <a:bodyPr wrap="square">
            <a:spAutoFit/>
          </a:bodyPr>
          <a:lstStyle/>
          <a:p>
            <a:pPr algn="just">
              <a:lnSpc>
                <a:spcPct val="107000"/>
              </a:lnSpc>
              <a:spcAft>
                <a:spcPts val="800"/>
              </a:spcAft>
            </a:pPr>
            <a:r>
              <a:rPr lang="en-PH" sz="2800" b="1" kern="100" dirty="0">
                <a:effectLst/>
                <a:latin typeface="Times New Roman" panose="02020603050405020304" pitchFamily="18" charset="0"/>
                <a:ea typeface="Aptos" panose="020B0004020202020204" pitchFamily="34" charset="0"/>
                <a:cs typeface="Times New Roman" panose="02020603050405020304" pitchFamily="18" charset="0"/>
              </a:rPr>
              <a:t>Instruct the students to follow the following procedure: </a:t>
            </a:r>
            <a:endParaRPr lang="en-PH" sz="36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1. Go to the corridor or the nearest area to your room that is clear and safe for this walking activity.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2. Using the meter stick, measure 10 meters. Use chalk or any marker to indicate the starting and ending points with a line.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3. Let each member walk at a normal pace (not fast nor slow) along the path from the starting to the ending points. Ask another member to record the time taken to walk 10 meters.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4. Let each member do two more trials by walking slower and faster than the first.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2800" dirty="0">
                <a:effectLst/>
                <a:latin typeface="Times New Roman" panose="02020603050405020304" pitchFamily="18" charset="0"/>
                <a:ea typeface="Aptos" panose="020B0004020202020204" pitchFamily="34" charset="0"/>
              </a:rPr>
              <a:t>5. Compute the fastest speed of each member by dividing the distance traveled by the shortest time of travel.</a:t>
            </a:r>
            <a:endParaRPr lang="en-PH" sz="2800" dirty="0"/>
          </a:p>
        </p:txBody>
      </p:sp>
    </p:spTree>
    <p:extLst>
      <p:ext uri="{BB962C8B-B14F-4D97-AF65-F5344CB8AC3E}">
        <p14:creationId xmlns:p14="http://schemas.microsoft.com/office/powerpoint/2010/main" val="21536345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3EF41-9A23-2E92-A186-49E82F5128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6F2018-C25D-3189-A22B-907967DD4D30}"/>
              </a:ext>
            </a:extLst>
          </p:cNvPr>
          <p:cNvSpPr txBox="1"/>
          <p:nvPr/>
        </p:nvSpPr>
        <p:spPr>
          <a:xfrm>
            <a:off x="1148080" y="620980"/>
            <a:ext cx="10068560" cy="5070106"/>
          </a:xfrm>
          <a:prstGeom prst="rect">
            <a:avLst/>
          </a:prstGeom>
          <a:noFill/>
        </p:spPr>
        <p:txBody>
          <a:bodyPr wrap="square">
            <a:spAutoFit/>
          </a:bodyPr>
          <a:lstStyle/>
          <a:p>
            <a:pPr algn="just">
              <a:lnSpc>
                <a:spcPct val="107000"/>
              </a:lnSpc>
              <a:spcAft>
                <a:spcPts val="800"/>
              </a:spcAft>
            </a:pPr>
            <a:r>
              <a:rPr lang="en-PH" sz="4000" b="1" kern="100" dirty="0">
                <a:effectLst/>
                <a:latin typeface="Times New Roman" panose="02020603050405020304" pitchFamily="18" charset="0"/>
                <a:ea typeface="Aptos" panose="020B0004020202020204" pitchFamily="34" charset="0"/>
                <a:cs typeface="Times New Roman" panose="02020603050405020304" pitchFamily="18" charset="0"/>
              </a:rPr>
              <a:t>Process questions: </a:t>
            </a:r>
            <a:endParaRPr lang="en-PH" sz="48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1. What happened to your travel time when you walked slower? faster?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2. Who walked fastest in your group? What is the basis for concluding that he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or she is the fastest in your group? </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4000" dirty="0">
                <a:effectLst/>
                <a:latin typeface="Times New Roman" panose="02020603050405020304" pitchFamily="18" charset="0"/>
                <a:ea typeface="Aptos" panose="020B0004020202020204" pitchFamily="34" charset="0"/>
              </a:rPr>
              <a:t>3. Is it safe when you move fast? Why?</a:t>
            </a:r>
            <a:endParaRPr lang="en-PH" sz="4000" dirty="0"/>
          </a:p>
        </p:txBody>
      </p:sp>
    </p:spTree>
    <p:extLst>
      <p:ext uri="{BB962C8B-B14F-4D97-AF65-F5344CB8AC3E}">
        <p14:creationId xmlns:p14="http://schemas.microsoft.com/office/powerpoint/2010/main" val="19201448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B72C8-3B1E-F88A-E2DC-45F5102E8D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C49412-B4D8-8505-815F-B223A144316B}"/>
              </a:ext>
            </a:extLst>
          </p:cNvPr>
          <p:cNvSpPr txBox="1"/>
          <p:nvPr/>
        </p:nvSpPr>
        <p:spPr>
          <a:xfrm>
            <a:off x="944880" y="185799"/>
            <a:ext cx="9631680" cy="5562485"/>
          </a:xfrm>
          <a:prstGeom prst="rect">
            <a:avLst/>
          </a:prstGeom>
          <a:noFill/>
        </p:spPr>
        <p:txBody>
          <a:bodyPr wrap="square">
            <a:spAutoFit/>
          </a:bodyPr>
          <a:lstStyle/>
          <a:p>
            <a:pPr algn="just">
              <a:lnSpc>
                <a:spcPct val="107000"/>
              </a:lnSpc>
              <a:spcAft>
                <a:spcPts val="800"/>
              </a:spcAft>
            </a:pPr>
            <a:r>
              <a:rPr lang="en-PH" sz="2800" b="1" kern="100" dirty="0">
                <a:effectLst/>
                <a:latin typeface="Times New Roman" panose="02020603050405020304" pitchFamily="18" charset="0"/>
                <a:ea typeface="Aptos" panose="020B0004020202020204" pitchFamily="34" charset="0"/>
                <a:cs typeface="Times New Roman" panose="02020603050405020304" pitchFamily="18" charset="0"/>
              </a:rPr>
              <a:t>Multiple Choice</a:t>
            </a: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 Carefully read the questions below. Choose the correct answer from the choices below each question. Encircle the letter corresponding to the correct answer.</a:t>
            </a:r>
          </a:p>
          <a:p>
            <a:pPr algn="just">
              <a:lnSpc>
                <a:spcPct val="107000"/>
              </a:lnSpc>
              <a:spcAft>
                <a:spcPts val="800"/>
              </a:spcAft>
            </a:pPr>
            <a:endParaRPr lang="en-PH" sz="36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b="1" kern="100" dirty="0">
                <a:effectLst/>
                <a:latin typeface="Times New Roman" panose="02020603050405020304" pitchFamily="18" charset="0"/>
                <a:ea typeface="Aptos" panose="020B0004020202020204" pitchFamily="34" charset="0"/>
                <a:cs typeface="Times New Roman" panose="02020603050405020304" pitchFamily="18" charset="0"/>
              </a:rPr>
              <a:t>1. Which tool is best suited to precisely measure the distance traveled by a moving </a:t>
            </a:r>
            <a:r>
              <a:rPr lang="en-PH" sz="3600" b="1" kern="100" dirty="0">
                <a:latin typeface="Aptos" panose="020B0004020202020204" pitchFamily="34" charset="0"/>
                <a:ea typeface="Aptos" panose="020B0004020202020204" pitchFamily="34" charset="0"/>
                <a:cs typeface="Times New Roman" panose="02020603050405020304" pitchFamily="18" charset="0"/>
              </a:rPr>
              <a:t> </a:t>
            </a:r>
            <a:r>
              <a:rPr lang="en-PH" sz="2800" b="1" kern="100" dirty="0">
                <a:effectLst/>
                <a:latin typeface="Times New Roman" panose="02020603050405020304" pitchFamily="18" charset="0"/>
                <a:ea typeface="Aptos" panose="020B0004020202020204" pitchFamily="34" charset="0"/>
                <a:cs typeface="Times New Roman" panose="02020603050405020304" pitchFamily="18" charset="0"/>
              </a:rPr>
              <a:t>object? </a:t>
            </a:r>
            <a:endParaRPr lang="en-PH" sz="36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A. calculator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B. clock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C. meter stick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D. stopwatch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565589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FADA8-5F56-5551-7613-EB59B52549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049B14-CB63-C563-D4B9-21BF2AD2F316}"/>
              </a:ext>
            </a:extLst>
          </p:cNvPr>
          <p:cNvSpPr txBox="1"/>
          <p:nvPr/>
        </p:nvSpPr>
        <p:spPr>
          <a:xfrm>
            <a:off x="985520" y="253772"/>
            <a:ext cx="10220960" cy="6104235"/>
          </a:xfrm>
          <a:prstGeom prst="rect">
            <a:avLst/>
          </a:prstGeom>
          <a:noFill/>
        </p:spPr>
        <p:txBody>
          <a:bodyPr wrap="square">
            <a:spAutoFit/>
          </a:bodyPr>
          <a:lstStyle/>
          <a:p>
            <a:pPr algn="just">
              <a:spcAft>
                <a:spcPts val="800"/>
              </a:spcAft>
            </a:pPr>
            <a:r>
              <a:rPr lang="en-PH" sz="2800" b="1" kern="100" dirty="0">
                <a:effectLst/>
                <a:latin typeface="Times New Roman" panose="02020603050405020304" pitchFamily="18" charset="0"/>
                <a:ea typeface="Aptos" panose="020B0004020202020204" pitchFamily="34" charset="0"/>
                <a:cs typeface="Times New Roman" panose="02020603050405020304" pitchFamily="18" charset="0"/>
              </a:rPr>
              <a:t>2. Which of the following measures how far two points are from each other? </a:t>
            </a:r>
            <a:endParaRPr lang="en-PH" sz="36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A. distance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B. graph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C. speed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D. Time</a:t>
            </a:r>
          </a:p>
          <a:p>
            <a:pPr algn="just">
              <a:spcAft>
                <a:spcPts val="800"/>
              </a:spcAft>
            </a:pPr>
            <a:endParaRPr lang="en-PH"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b="1" kern="100" dirty="0">
                <a:effectLst/>
                <a:latin typeface="Times New Roman" panose="02020603050405020304" pitchFamily="18" charset="0"/>
                <a:ea typeface="Aptos" panose="020B0004020202020204" pitchFamily="34" charset="0"/>
                <a:cs typeface="Times New Roman" panose="02020603050405020304" pitchFamily="18" charset="0"/>
              </a:rPr>
              <a:t>3. The measure of the duration of an event taking place is called: </a:t>
            </a:r>
            <a:endParaRPr lang="en-PH" sz="36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A. distance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B. graph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2800" kern="100" dirty="0">
                <a:effectLst/>
                <a:latin typeface="Times New Roman" panose="02020603050405020304" pitchFamily="18" charset="0"/>
                <a:ea typeface="Aptos" panose="020B0004020202020204" pitchFamily="34" charset="0"/>
                <a:cs typeface="Times New Roman" panose="02020603050405020304" pitchFamily="18" charset="0"/>
              </a:rPr>
              <a:t>C. speed              </a:t>
            </a:r>
            <a:endParaRPr lang="en-PH" sz="36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2800" dirty="0">
                <a:effectLst/>
                <a:latin typeface="Times New Roman" panose="02020603050405020304" pitchFamily="18" charset="0"/>
                <a:ea typeface="Aptos" panose="020B0004020202020204" pitchFamily="34" charset="0"/>
              </a:rPr>
              <a:t>D. time </a:t>
            </a:r>
            <a:endParaRPr lang="en-PH" sz="2800" dirty="0"/>
          </a:p>
        </p:txBody>
      </p:sp>
    </p:spTree>
    <p:extLst>
      <p:ext uri="{BB962C8B-B14F-4D97-AF65-F5344CB8AC3E}">
        <p14:creationId xmlns:p14="http://schemas.microsoft.com/office/powerpoint/2010/main" val="9553022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76E6A-1D4B-C346-8AB9-08B56A4C21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28F580-AB2A-306F-1CB8-6C681876F276}"/>
              </a:ext>
            </a:extLst>
          </p:cNvPr>
          <p:cNvSpPr txBox="1"/>
          <p:nvPr/>
        </p:nvSpPr>
        <p:spPr>
          <a:xfrm>
            <a:off x="1178560" y="216594"/>
            <a:ext cx="10027920" cy="7786747"/>
          </a:xfrm>
          <a:prstGeom prst="rect">
            <a:avLst/>
          </a:prstGeom>
          <a:noFill/>
        </p:spPr>
        <p:txBody>
          <a:bodyPr wrap="square">
            <a:spAutoFit/>
          </a:bodyPr>
          <a:lstStyle/>
          <a:p>
            <a:pPr algn="just">
              <a:spcAft>
                <a:spcPts val="800"/>
              </a:spcAft>
            </a:pPr>
            <a:r>
              <a:rPr lang="en-PH" sz="3200" b="1" kern="100" dirty="0">
                <a:effectLst/>
                <a:latin typeface="Times New Roman" panose="02020603050405020304" pitchFamily="18" charset="0"/>
                <a:ea typeface="Aptos" panose="020B0004020202020204" pitchFamily="34" charset="0"/>
                <a:cs typeface="Times New Roman" panose="02020603050405020304" pitchFamily="18" charset="0"/>
              </a:rPr>
              <a:t>4. What is its speed if a bird flies 100 meters (m) in 50 seconds (s)? </a:t>
            </a:r>
            <a:endParaRPr lang="en-PH" sz="40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A. 2 m/s        		</a:t>
            </a:r>
            <a:r>
              <a:rPr lang="en-PH" sz="3200" kern="100" dirty="0">
                <a:latin typeface="Times New Roman" panose="02020603050405020304" pitchFamily="18" charset="0"/>
                <a:ea typeface="Aptos" panose="020B0004020202020204" pitchFamily="34" charset="0"/>
                <a:cs typeface="Times New Roman" panose="02020603050405020304" pitchFamily="18" charset="0"/>
              </a:rPr>
              <a:t>	</a:t>
            </a: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C. 10 m/s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B. 5 m/s      			</a:t>
            </a: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D. 50 m/s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3200" b="1" kern="100" dirty="0">
                <a:effectLst/>
                <a:latin typeface="Times New Roman" panose="02020603050405020304" pitchFamily="18" charset="0"/>
                <a:ea typeface="Aptos" panose="020B0004020202020204" pitchFamily="34" charset="0"/>
                <a:cs typeface="Times New Roman" panose="02020603050405020304" pitchFamily="18" charset="0"/>
              </a:rPr>
              <a:t>5. Kath walks to the canteen that is 10 meters (m) away from her classroom for 10 seconds (s). What is her speed? </a:t>
            </a:r>
            <a:endParaRPr lang="en-PH" sz="320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A. 1 m/s        			 C. 5 m/s      </a:t>
            </a:r>
            <a:endParaRPr lang="en-PH" sz="32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B. 2 m/s       			</a:t>
            </a:r>
            <a:r>
              <a:rPr lang="en-PH" sz="3200" dirty="0">
                <a:effectLst/>
                <a:latin typeface="Times New Roman" panose="02020603050405020304" pitchFamily="18" charset="0"/>
                <a:ea typeface="Aptos" panose="020B0004020202020204" pitchFamily="34" charset="0"/>
              </a:rPr>
              <a:t>D. 10 m/s</a:t>
            </a:r>
            <a:endParaRPr lang="en-PH" sz="3200" dirty="0"/>
          </a:p>
          <a:p>
            <a:pPr algn="just">
              <a:spcAft>
                <a:spcPts val="800"/>
              </a:spcAft>
            </a:pP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800"/>
              </a:spcAft>
            </a:pP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3200" dirty="0">
                <a:effectLst/>
                <a:latin typeface="Times New Roman" panose="02020603050405020304" pitchFamily="18" charset="0"/>
                <a:ea typeface="Aptos" panose="020B0004020202020204" pitchFamily="34" charset="0"/>
              </a:rPr>
              <a:t>	</a:t>
            </a:r>
            <a:endParaRPr lang="en-PH" sz="3200" dirty="0"/>
          </a:p>
        </p:txBody>
      </p:sp>
    </p:spTree>
    <p:extLst>
      <p:ext uri="{BB962C8B-B14F-4D97-AF65-F5344CB8AC3E}">
        <p14:creationId xmlns:p14="http://schemas.microsoft.com/office/powerpoint/2010/main" val="26403462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5349D-1959-182A-CD33-C78B7D7AD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1E681-AE21-4666-2F06-0EE9EFCCBF93}"/>
              </a:ext>
            </a:extLst>
          </p:cNvPr>
          <p:cNvSpPr>
            <a:spLocks noGrp="1"/>
          </p:cNvSpPr>
          <p:nvPr>
            <p:ph type="title"/>
          </p:nvPr>
        </p:nvSpPr>
        <p:spPr>
          <a:xfrm>
            <a:off x="4233675" y="-1950135"/>
            <a:ext cx="7527401" cy="5140212"/>
          </a:xfrm>
        </p:spPr>
        <p:txBody>
          <a:bodyPr/>
          <a:lstStyle/>
          <a:p>
            <a:r>
              <a:rPr lang="en-US" sz="19900" dirty="0"/>
              <a:t>DAY 5</a:t>
            </a:r>
          </a:p>
        </p:txBody>
      </p:sp>
      <p:pic>
        <p:nvPicPr>
          <p:cNvPr id="6" name="Picture Placeholder 5" descr="Mountains at sunset">
            <a:extLst>
              <a:ext uri="{FF2B5EF4-FFF2-40B4-BE49-F238E27FC236}">
                <a16:creationId xmlns:a16="http://schemas.microsoft.com/office/drawing/2014/main" id="{ED927FED-701B-0770-8D40-39539C140354}"/>
              </a:ext>
            </a:extLst>
          </p:cNvPr>
          <p:cNvPicPr>
            <a:picLocks noGrp="1" noChangeAspect="1"/>
          </p:cNvPicPr>
          <p:nvPr>
            <p:ph type="pic" sz="quarter" idx="14"/>
          </p:nvPr>
        </p:nvPicPr>
        <p:blipFill rotWithShape="1">
          <a:blip r:embed="rId3"/>
          <a:srcRect t="21" b="21"/>
          <a:stretch/>
        </p:blipFill>
        <p:spPr/>
      </p:pic>
    </p:spTree>
    <p:extLst>
      <p:ext uri="{BB962C8B-B14F-4D97-AF65-F5344CB8AC3E}">
        <p14:creationId xmlns:p14="http://schemas.microsoft.com/office/powerpoint/2010/main" val="1331366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03E386C-6956-8C17-BB4A-F67DF2A5E64E}"/>
              </a:ext>
            </a:extLst>
          </p:cNvPr>
          <p:cNvSpPr txBox="1"/>
          <p:nvPr/>
        </p:nvSpPr>
        <p:spPr>
          <a:xfrm>
            <a:off x="1381760" y="930255"/>
            <a:ext cx="9652000" cy="4401205"/>
          </a:xfrm>
          <a:prstGeom prst="rect">
            <a:avLst/>
          </a:prstGeom>
          <a:noFill/>
        </p:spPr>
        <p:txBody>
          <a:bodyPr wrap="square">
            <a:spAutoFit/>
          </a:bodyPr>
          <a:lstStyle/>
          <a:p>
            <a:r>
              <a:rPr lang="en-PH" sz="4000" dirty="0">
                <a:effectLst/>
                <a:latin typeface="Times New Roman" panose="02020603050405020304" pitchFamily="18" charset="0"/>
                <a:ea typeface="Aptos" panose="020B0004020202020204" pitchFamily="34" charset="0"/>
              </a:rPr>
              <a:t>Briefly discuss the walking activity from the previous lesson to help students recall how speed is calculated. Ask, </a:t>
            </a:r>
          </a:p>
          <a:p>
            <a:endParaRPr lang="en-PH" sz="4000" dirty="0">
              <a:latin typeface="Times New Roman" panose="02020603050405020304" pitchFamily="18" charset="0"/>
              <a:ea typeface="Aptos" panose="020B0004020202020204" pitchFamily="34" charset="0"/>
            </a:endParaRPr>
          </a:p>
          <a:p>
            <a:endParaRPr lang="en-PH" sz="4000" dirty="0">
              <a:effectLst/>
              <a:latin typeface="Times New Roman" panose="02020603050405020304" pitchFamily="18" charset="0"/>
              <a:ea typeface="Aptos" panose="020B0004020202020204" pitchFamily="34" charset="0"/>
            </a:endParaRPr>
          </a:p>
          <a:p>
            <a:r>
              <a:rPr lang="en-PH" sz="4000" b="1" dirty="0">
                <a:effectLst/>
                <a:latin typeface="Times New Roman" panose="02020603050405020304" pitchFamily="18" charset="0"/>
                <a:ea typeface="Aptos" panose="020B0004020202020204" pitchFamily="34" charset="0"/>
              </a:rPr>
              <a:t>"What did we observe when we changed our walking pace?"</a:t>
            </a:r>
            <a:endParaRPr lang="en-PH" sz="4000" b="1" dirty="0"/>
          </a:p>
        </p:txBody>
      </p:sp>
    </p:spTree>
    <p:extLst>
      <p:ext uri="{BB962C8B-B14F-4D97-AF65-F5344CB8AC3E}">
        <p14:creationId xmlns:p14="http://schemas.microsoft.com/office/powerpoint/2010/main" val="42135315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4307B-48E5-8CB0-E1DD-BE2E5202C9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3E4D5D-B5E3-09DD-E3E4-0EDD8BD22140}"/>
              </a:ext>
            </a:extLst>
          </p:cNvPr>
          <p:cNvSpPr txBox="1"/>
          <p:nvPr/>
        </p:nvSpPr>
        <p:spPr>
          <a:xfrm>
            <a:off x="1209040" y="437677"/>
            <a:ext cx="10271760" cy="4977581"/>
          </a:xfrm>
          <a:prstGeom prst="rect">
            <a:avLst/>
          </a:prstGeom>
          <a:noFill/>
        </p:spPr>
        <p:txBody>
          <a:bodyPr wrap="square">
            <a:spAutoFit/>
          </a:bodyPr>
          <a:lstStyle/>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The students will create a concept map to summarize their learnings on describing motion.</a:t>
            </a:r>
          </a:p>
          <a:p>
            <a:pPr algn="just">
              <a:lnSpc>
                <a:spcPct val="107000"/>
              </a:lnSpc>
              <a:spcAft>
                <a:spcPts val="800"/>
              </a:spcAft>
            </a:pP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3600" dirty="0">
                <a:effectLst/>
                <a:latin typeface="Times New Roman" panose="02020603050405020304" pitchFamily="18" charset="0"/>
                <a:ea typeface="Aptos" panose="020B0004020202020204" pitchFamily="34" charset="0"/>
              </a:rPr>
              <a:t>The students, at this point, will reflect on their learning by answering Reflecting on Bright Ideas. This will allow them to map the ideas or words that they were not sure about, key concepts that were new to them, and the important things to remember.</a:t>
            </a:r>
            <a:endParaRPr lang="en-PH" sz="3600" dirty="0"/>
          </a:p>
        </p:txBody>
      </p:sp>
    </p:spTree>
    <p:extLst>
      <p:ext uri="{BB962C8B-B14F-4D97-AF65-F5344CB8AC3E}">
        <p14:creationId xmlns:p14="http://schemas.microsoft.com/office/powerpoint/2010/main" val="11198816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94FD0-6789-66D8-27C1-D2B154C669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4C028D-825A-655F-134A-AE3B82247527}"/>
              </a:ext>
            </a:extLst>
          </p:cNvPr>
          <p:cNvSpPr txBox="1"/>
          <p:nvPr/>
        </p:nvSpPr>
        <p:spPr>
          <a:xfrm>
            <a:off x="1117600" y="987475"/>
            <a:ext cx="12039600" cy="3416320"/>
          </a:xfrm>
          <a:prstGeom prst="rect">
            <a:avLst/>
          </a:prstGeom>
          <a:noFill/>
        </p:spPr>
        <p:txBody>
          <a:bodyPr wrap="square">
            <a:spAutoFit/>
          </a:bodyPr>
          <a:lstStyle/>
          <a:p>
            <a:r>
              <a:rPr lang="en-PH" sz="5400" dirty="0">
                <a:effectLst/>
                <a:latin typeface="Times New Roman" panose="02020603050405020304" pitchFamily="18" charset="0"/>
                <a:ea typeface="Aptos" panose="020B0004020202020204" pitchFamily="34" charset="0"/>
              </a:rPr>
              <a:t>Review key terms: </a:t>
            </a:r>
          </a:p>
          <a:p>
            <a:endParaRPr lang="en-PH" sz="5400" dirty="0">
              <a:latin typeface="Times New Roman" panose="02020603050405020304" pitchFamily="18" charset="0"/>
              <a:ea typeface="Aptos" panose="020B0004020202020204" pitchFamily="34" charset="0"/>
            </a:endParaRPr>
          </a:p>
          <a:p>
            <a:r>
              <a:rPr lang="en-PH" sz="5400" dirty="0">
                <a:effectLst/>
                <a:latin typeface="Times New Roman" panose="02020603050405020304" pitchFamily="18" charset="0"/>
                <a:ea typeface="Aptos" panose="020B0004020202020204" pitchFamily="34" charset="0"/>
              </a:rPr>
              <a:t>Motion, Speed, Distance, Time, Pace, Measurement, Accuracy.</a:t>
            </a:r>
            <a:endParaRPr lang="en-PH" sz="5400" dirty="0"/>
          </a:p>
        </p:txBody>
      </p:sp>
    </p:spTree>
    <p:extLst>
      <p:ext uri="{BB962C8B-B14F-4D97-AF65-F5344CB8AC3E}">
        <p14:creationId xmlns:p14="http://schemas.microsoft.com/office/powerpoint/2010/main" val="40026218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B3E27-452D-17C2-FAC3-DEBEFE5E9C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574A65-890B-8479-68D0-5EA0209D7AF3}"/>
              </a:ext>
            </a:extLst>
          </p:cNvPr>
          <p:cNvSpPr txBox="1"/>
          <p:nvPr/>
        </p:nvSpPr>
        <p:spPr>
          <a:xfrm>
            <a:off x="934720" y="1363395"/>
            <a:ext cx="9276080" cy="3477875"/>
          </a:xfrm>
          <a:prstGeom prst="rect">
            <a:avLst/>
          </a:prstGeom>
          <a:noFill/>
        </p:spPr>
        <p:txBody>
          <a:bodyPr wrap="square">
            <a:spAutoFit/>
          </a:bodyPr>
          <a:lstStyle/>
          <a:p>
            <a:r>
              <a:rPr lang="en-PH" sz="4400" dirty="0">
                <a:effectLst/>
                <a:latin typeface="Times New Roman" panose="02020603050405020304" pitchFamily="18" charset="0"/>
                <a:ea typeface="Aptos" panose="020B0004020202020204" pitchFamily="34" charset="0"/>
              </a:rPr>
              <a:t>Present the core idea: </a:t>
            </a:r>
          </a:p>
          <a:p>
            <a:endParaRPr lang="en-PH" sz="4400" dirty="0">
              <a:latin typeface="Times New Roman" panose="02020603050405020304" pitchFamily="18" charset="0"/>
              <a:ea typeface="Aptos" panose="020B0004020202020204" pitchFamily="34" charset="0"/>
            </a:endParaRPr>
          </a:p>
          <a:p>
            <a:r>
              <a:rPr lang="en-PH" sz="4400" dirty="0">
                <a:effectLst/>
                <a:latin typeface="Times New Roman" panose="02020603050405020304" pitchFamily="18" charset="0"/>
                <a:ea typeface="Aptos" panose="020B0004020202020204" pitchFamily="34" charset="0"/>
              </a:rPr>
              <a:t>"Describing motion requires understanding how speed is affected by time and distance."</a:t>
            </a:r>
            <a:endParaRPr lang="en-PH" sz="4400" dirty="0"/>
          </a:p>
        </p:txBody>
      </p:sp>
    </p:spTree>
    <p:extLst>
      <p:ext uri="{BB962C8B-B14F-4D97-AF65-F5344CB8AC3E}">
        <p14:creationId xmlns:p14="http://schemas.microsoft.com/office/powerpoint/2010/main" val="38356635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75B2F-99A9-F445-E7E5-A9A3986838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271B91-E345-6C00-6E59-8E54824B734B}"/>
              </a:ext>
            </a:extLst>
          </p:cNvPr>
          <p:cNvSpPr txBox="1"/>
          <p:nvPr/>
        </p:nvSpPr>
        <p:spPr>
          <a:xfrm>
            <a:off x="1127760" y="1180515"/>
            <a:ext cx="9144000" cy="3046988"/>
          </a:xfrm>
          <a:prstGeom prst="rect">
            <a:avLst/>
          </a:prstGeom>
          <a:noFill/>
        </p:spPr>
        <p:txBody>
          <a:bodyPr wrap="square">
            <a:spAutoFit/>
          </a:bodyPr>
          <a:lstStyle/>
          <a:p>
            <a:r>
              <a:rPr lang="en-PH" sz="4800" dirty="0">
                <a:effectLst/>
                <a:latin typeface="Times New Roman" panose="02020603050405020304" pitchFamily="18" charset="0"/>
                <a:ea typeface="Aptos" panose="020B0004020202020204" pitchFamily="34" charset="0"/>
              </a:rPr>
              <a:t>Introduce the importance of summarizing information and reflecting on what has been learned to reinforce understanding.</a:t>
            </a:r>
            <a:endParaRPr lang="en-PH" sz="4800" dirty="0"/>
          </a:p>
        </p:txBody>
      </p:sp>
    </p:spTree>
    <p:extLst>
      <p:ext uri="{BB962C8B-B14F-4D97-AF65-F5344CB8AC3E}">
        <p14:creationId xmlns:p14="http://schemas.microsoft.com/office/powerpoint/2010/main" val="15870067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D57E9-62AC-F3D2-9481-37C4D2D403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3406C3-A15B-1C1B-8A4B-9B355C9612EC}"/>
              </a:ext>
            </a:extLst>
          </p:cNvPr>
          <p:cNvSpPr txBox="1"/>
          <p:nvPr/>
        </p:nvSpPr>
        <p:spPr>
          <a:xfrm>
            <a:off x="1046480" y="1124447"/>
            <a:ext cx="10099040" cy="2802049"/>
          </a:xfrm>
          <a:prstGeom prst="rect">
            <a:avLst/>
          </a:prstGeom>
          <a:noFill/>
        </p:spPr>
        <p:txBody>
          <a:bodyPr wrap="square">
            <a:spAutoFit/>
          </a:bodyPr>
          <a:lstStyle/>
          <a:p>
            <a:pPr algn="just">
              <a:lnSpc>
                <a:spcPct val="107000"/>
              </a:lnSpc>
              <a:spcAft>
                <a:spcPts val="800"/>
              </a:spcAft>
            </a:pPr>
            <a:r>
              <a:rPr lang="en-PH" sz="4000" b="1" kern="100" dirty="0">
                <a:effectLst/>
                <a:latin typeface="Times New Roman" panose="02020603050405020304" pitchFamily="18" charset="0"/>
                <a:ea typeface="Aptos" panose="020B0004020202020204" pitchFamily="34" charset="0"/>
                <a:cs typeface="Times New Roman" panose="02020603050405020304" pitchFamily="18" charset="0"/>
              </a:rPr>
              <a:t>Concept Mapping </a:t>
            </a: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(15 minutes)</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Make a concept map about how motion is described in this lesson. Do this lesson map with the students to summarize the lesson.</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493370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AB2466-B19D-5F69-3947-68346A0C3F97}"/>
              </a:ext>
            </a:extLst>
          </p:cNvPr>
          <p:cNvPicPr>
            <a:picLocks noChangeAspect="1"/>
          </p:cNvPicPr>
          <p:nvPr/>
        </p:nvPicPr>
        <p:blipFill>
          <a:blip r:embed="rId2"/>
          <a:stretch>
            <a:fillRect/>
          </a:stretch>
        </p:blipFill>
        <p:spPr>
          <a:xfrm>
            <a:off x="2245994" y="11546"/>
            <a:ext cx="7233286" cy="6834908"/>
          </a:xfrm>
          <a:prstGeom prst="rect">
            <a:avLst/>
          </a:prstGeom>
        </p:spPr>
      </p:pic>
    </p:spTree>
    <p:extLst>
      <p:ext uri="{BB962C8B-B14F-4D97-AF65-F5344CB8AC3E}">
        <p14:creationId xmlns:p14="http://schemas.microsoft.com/office/powerpoint/2010/main" val="17973572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1B58E-5947-1029-6A97-6FE5668DC8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F25A6C-101A-2FE7-7355-CFF7A7804C58}"/>
              </a:ext>
            </a:extLst>
          </p:cNvPr>
          <p:cNvSpPr txBox="1"/>
          <p:nvPr/>
        </p:nvSpPr>
        <p:spPr>
          <a:xfrm>
            <a:off x="1178560" y="521158"/>
            <a:ext cx="9306560" cy="3184077"/>
          </a:xfrm>
          <a:prstGeom prst="rect">
            <a:avLst/>
          </a:prstGeom>
          <a:noFill/>
        </p:spPr>
        <p:txBody>
          <a:bodyPr wrap="square">
            <a:spAutoFit/>
          </a:bodyPr>
          <a:lstStyle/>
          <a:p>
            <a:pPr algn="just">
              <a:lnSpc>
                <a:spcPct val="107000"/>
              </a:lnSpc>
              <a:spcAft>
                <a:spcPts val="800"/>
              </a:spcAft>
            </a:pPr>
            <a:r>
              <a:rPr lang="en-PH" sz="3200" b="1" kern="100" dirty="0">
                <a:effectLst/>
                <a:latin typeface="Times New Roman" panose="02020603050405020304" pitchFamily="18" charset="0"/>
                <a:ea typeface="Aptos" panose="020B0004020202020204" pitchFamily="34" charset="0"/>
                <a:cs typeface="Times New Roman" panose="02020603050405020304" pitchFamily="18" charset="0"/>
              </a:rPr>
              <a:t>Reflection on Learning</a:t>
            </a:r>
            <a:r>
              <a:rPr lang="en-PH" sz="3200" kern="100" dirty="0">
                <a:effectLst/>
                <a:latin typeface="Times New Roman" panose="02020603050405020304" pitchFamily="18" charset="0"/>
                <a:ea typeface="Aptos" panose="020B0004020202020204" pitchFamily="34" charset="0"/>
                <a:cs typeface="Times New Roman" panose="02020603050405020304" pitchFamily="18" charset="0"/>
              </a:rPr>
              <a:t> (10 minutes) </a:t>
            </a:r>
            <a:endParaRPr lang="en-PH" sz="4000" kern="100" dirty="0">
              <a:effectLst/>
              <a:latin typeface="Aptos" panose="020B0004020202020204" pitchFamily="34" charset="0"/>
              <a:ea typeface="Aptos" panose="020B0004020202020204" pitchFamily="34" charset="0"/>
              <a:cs typeface="Times New Roman" panose="02020603050405020304" pitchFamily="18" charset="0"/>
            </a:endParaRPr>
          </a:p>
          <a:p>
            <a:r>
              <a:rPr lang="en-PH" sz="3200" dirty="0">
                <a:effectLst/>
                <a:latin typeface="Times New Roman" panose="02020603050405020304" pitchFamily="18" charset="0"/>
                <a:ea typeface="Aptos" panose="020B0004020202020204" pitchFamily="34" charset="0"/>
              </a:rPr>
              <a:t>Using the provided template, ask the students to reflect on bright ideas. In the light bulb image, they will write 2 – 3 things in this lesson that were new to them, 1 important thing to remember, and 4 ideas or words that they’re not sure about. </a:t>
            </a:r>
            <a:endParaRPr lang="en-PH" sz="3200" dirty="0"/>
          </a:p>
        </p:txBody>
      </p:sp>
    </p:spTree>
    <p:extLst>
      <p:ext uri="{BB962C8B-B14F-4D97-AF65-F5344CB8AC3E}">
        <p14:creationId xmlns:p14="http://schemas.microsoft.com/office/powerpoint/2010/main" val="6956634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D087B-04D1-7BCF-126F-BF87F3DB54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E2B1A2-BCC9-E665-FE06-2419FEF35620}"/>
              </a:ext>
            </a:extLst>
          </p:cNvPr>
          <p:cNvSpPr txBox="1"/>
          <p:nvPr/>
        </p:nvSpPr>
        <p:spPr>
          <a:xfrm>
            <a:off x="1178560" y="521158"/>
            <a:ext cx="9306560" cy="1113253"/>
          </a:xfrm>
          <a:prstGeom prst="rect">
            <a:avLst/>
          </a:prstGeom>
          <a:noFill/>
        </p:spPr>
        <p:txBody>
          <a:bodyPr wrap="square">
            <a:spAutoFit/>
          </a:bodyPr>
          <a:lstStyle/>
          <a:p>
            <a:pPr algn="just">
              <a:lnSpc>
                <a:spcPct val="107000"/>
              </a:lnSpc>
              <a:spcAft>
                <a:spcPts val="800"/>
              </a:spcAft>
            </a:pPr>
            <a:r>
              <a:rPr lang="en-US" sz="3200" b="1" kern="100" dirty="0">
                <a:effectLst/>
                <a:latin typeface="Times New Roman" panose="02020603050405020304" pitchFamily="18" charset="0"/>
                <a:ea typeface="Aptos" panose="020B0004020202020204" pitchFamily="34" charset="0"/>
                <a:cs typeface="Times New Roman" panose="02020603050405020304" pitchFamily="18" charset="0"/>
              </a:rPr>
              <a:t>Note: Reflecting on Bright Ideas (Reflecting on Bright Ideas, 2013)</a:t>
            </a:r>
            <a:endParaRPr lang="en-PH" sz="3200" dirty="0"/>
          </a:p>
        </p:txBody>
      </p:sp>
      <p:pic>
        <p:nvPicPr>
          <p:cNvPr id="2" name="Picture 1">
            <a:extLst>
              <a:ext uri="{FF2B5EF4-FFF2-40B4-BE49-F238E27FC236}">
                <a16:creationId xmlns:a16="http://schemas.microsoft.com/office/drawing/2014/main" id="{C9359FC0-5BEC-22DE-47FC-FAE283DD91D4}"/>
              </a:ext>
            </a:extLst>
          </p:cNvPr>
          <p:cNvPicPr>
            <a:picLocks noChangeAspect="1"/>
          </p:cNvPicPr>
          <p:nvPr/>
        </p:nvPicPr>
        <p:blipFill>
          <a:blip r:embed="rId3"/>
          <a:stretch>
            <a:fillRect/>
          </a:stretch>
        </p:blipFill>
        <p:spPr>
          <a:xfrm>
            <a:off x="3337604" y="1828799"/>
            <a:ext cx="4841195" cy="4818032"/>
          </a:xfrm>
          <a:prstGeom prst="rect">
            <a:avLst/>
          </a:prstGeom>
        </p:spPr>
      </p:pic>
    </p:spTree>
    <p:extLst>
      <p:ext uri="{BB962C8B-B14F-4D97-AF65-F5344CB8AC3E}">
        <p14:creationId xmlns:p14="http://schemas.microsoft.com/office/powerpoint/2010/main" val="11732195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36EDE2F-8D27-2EC7-3B64-3F065CA1B4F3}"/>
              </a:ext>
            </a:extLst>
          </p:cNvPr>
          <p:cNvSpPr txBox="1"/>
          <p:nvPr/>
        </p:nvSpPr>
        <p:spPr>
          <a:xfrm>
            <a:off x="1188720" y="318085"/>
            <a:ext cx="10119360" cy="2699457"/>
          </a:xfrm>
          <a:prstGeom prst="rect">
            <a:avLst/>
          </a:prstGeom>
          <a:noFill/>
        </p:spPr>
        <p:txBody>
          <a:bodyPr wrap="square">
            <a:spAutoFit/>
          </a:bodyPr>
          <a:lstStyle/>
          <a:p>
            <a:pPr algn="just">
              <a:lnSpc>
                <a:spcPct val="107000"/>
              </a:lnSpc>
              <a:spcAft>
                <a:spcPts val="800"/>
              </a:spcAft>
            </a:pPr>
            <a:r>
              <a:rPr lang="en-PH" sz="4000" b="1" kern="100" dirty="0">
                <a:effectLst/>
                <a:latin typeface="Times New Roman" panose="02020603050405020304" pitchFamily="18" charset="0"/>
                <a:ea typeface="Aptos" panose="020B0004020202020204" pitchFamily="34" charset="0"/>
                <a:cs typeface="Times New Roman" panose="02020603050405020304" pitchFamily="18" charset="0"/>
              </a:rPr>
              <a:t>Essay</a:t>
            </a:r>
            <a:r>
              <a:rPr lang="en-PH" sz="4000" kern="100" dirty="0">
                <a:effectLst/>
                <a:latin typeface="Times New Roman" panose="02020603050405020304" pitchFamily="18" charset="0"/>
                <a:ea typeface="Aptos" panose="020B0004020202020204" pitchFamily="34" charset="0"/>
                <a:cs typeface="Times New Roman" panose="02020603050405020304" pitchFamily="18" charset="0"/>
              </a:rPr>
              <a:t>. Read carefully the situation below. Answer the given question based on the rubric. Observe proper punctuation, capitalization, and spelling.</a:t>
            </a:r>
            <a:endParaRPr lang="en-PH" sz="4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848625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56596-9C84-F917-9375-30AAA8A01F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578F84-4457-0C89-9B1B-84F5BDDA94EC}"/>
              </a:ext>
            </a:extLst>
          </p:cNvPr>
          <p:cNvSpPr txBox="1"/>
          <p:nvPr/>
        </p:nvSpPr>
        <p:spPr>
          <a:xfrm>
            <a:off x="1452880" y="976761"/>
            <a:ext cx="8534400" cy="3624390"/>
          </a:xfrm>
          <a:prstGeom prst="rect">
            <a:avLst/>
          </a:prstGeom>
          <a:noFill/>
        </p:spPr>
        <p:txBody>
          <a:bodyPr wrap="square">
            <a:spAutoFit/>
          </a:bodyPr>
          <a:lstStyle/>
          <a:p>
            <a:pPr algn="just">
              <a:lnSpc>
                <a:spcPct val="107000"/>
              </a:lnSpc>
              <a:spcAft>
                <a:spcPts val="800"/>
              </a:spcAft>
            </a:pPr>
            <a:r>
              <a:rPr lang="en-PH" sz="3600" kern="100" dirty="0">
                <a:effectLst/>
                <a:latin typeface="Times New Roman" panose="02020603050405020304" pitchFamily="18" charset="0"/>
                <a:ea typeface="Aptos" panose="020B0004020202020204" pitchFamily="34" charset="0"/>
                <a:cs typeface="Times New Roman" panose="02020603050405020304" pitchFamily="18" charset="0"/>
              </a:rPr>
              <a:t>In speed contests, like a 100-meter sprint race, athletes do their best to speed up and win the contest. Sometimes, the difference is only a matter of few milliseconds. In these events, why is it important to have accurate measurements when describing motion?</a:t>
            </a:r>
            <a:endParaRPr lang="en-PH" sz="4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046739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8C6DA51-95FB-DDDA-E759-8B1852B33791}"/>
              </a:ext>
            </a:extLst>
          </p:cNvPr>
          <p:cNvGraphicFramePr>
            <a:graphicFrameLocks noGrp="1"/>
          </p:cNvGraphicFramePr>
          <p:nvPr>
            <p:ph idx="1"/>
            <p:extLst>
              <p:ext uri="{D42A27DB-BD31-4B8C-83A1-F6EECF244321}">
                <p14:modId xmlns:p14="http://schemas.microsoft.com/office/powerpoint/2010/main" val="1687981714"/>
              </p:ext>
            </p:extLst>
          </p:nvPr>
        </p:nvGraphicFramePr>
        <p:xfrm>
          <a:off x="909320" y="1239520"/>
          <a:ext cx="10373360" cy="4796017"/>
        </p:xfrm>
        <a:graphic>
          <a:graphicData uri="http://schemas.openxmlformats.org/drawingml/2006/table">
            <a:tbl>
              <a:tblPr firstRow="1" firstCol="1" bandRow="1">
                <a:tableStyleId>{9DCAF9ED-07DC-4A11-8D7F-57B35C25682E}</a:tableStyleId>
              </a:tblPr>
              <a:tblGrid>
                <a:gridCol w="4017650">
                  <a:extLst>
                    <a:ext uri="{9D8B030D-6E8A-4147-A177-3AD203B41FA5}">
                      <a16:colId xmlns:a16="http://schemas.microsoft.com/office/drawing/2014/main" val="1016297379"/>
                    </a:ext>
                  </a:extLst>
                </a:gridCol>
                <a:gridCol w="6355710">
                  <a:extLst>
                    <a:ext uri="{9D8B030D-6E8A-4147-A177-3AD203B41FA5}">
                      <a16:colId xmlns:a16="http://schemas.microsoft.com/office/drawing/2014/main" val="1794815991"/>
                    </a:ext>
                  </a:extLst>
                </a:gridCol>
              </a:tblGrid>
              <a:tr h="937222">
                <a:tc>
                  <a:txBody>
                    <a:bodyPr/>
                    <a:lstStyle/>
                    <a:p>
                      <a:pPr algn="ctr">
                        <a:lnSpc>
                          <a:spcPct val="107000"/>
                        </a:lnSpc>
                        <a:spcAft>
                          <a:spcPts val="800"/>
                        </a:spcAft>
                      </a:pPr>
                      <a:r>
                        <a:rPr lang="en-PH" sz="1600" kern="100" dirty="0">
                          <a:effectLst/>
                        </a:rPr>
                        <a:t>Excellent (4)</a:t>
                      </a:r>
                      <a:endParaRPr lang="en-PH" sz="2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tc>
                  <a:txBody>
                    <a:bodyPr/>
                    <a:lstStyle/>
                    <a:p>
                      <a:pPr algn="just">
                        <a:lnSpc>
                          <a:spcPct val="107000"/>
                        </a:lnSpc>
                        <a:spcAft>
                          <a:spcPts val="800"/>
                        </a:spcAft>
                      </a:pPr>
                      <a:r>
                        <a:rPr lang="en-PH" sz="1600" kern="100">
                          <a:effectLst/>
                        </a:rPr>
                        <a:t>The answer is clear, easy to read, and covers the topic well. (5 points)</a:t>
                      </a:r>
                      <a:endParaRPr lang="en-PH" sz="2700" kern="10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extLst>
                  <a:ext uri="{0D108BD9-81ED-4DB2-BD59-A6C34878D82A}">
                    <a16:rowId xmlns:a16="http://schemas.microsoft.com/office/drawing/2014/main" val="2898139265"/>
                  </a:ext>
                </a:extLst>
              </a:tr>
              <a:tr h="1505778">
                <a:tc>
                  <a:txBody>
                    <a:bodyPr/>
                    <a:lstStyle/>
                    <a:p>
                      <a:pPr algn="ctr">
                        <a:lnSpc>
                          <a:spcPct val="107000"/>
                        </a:lnSpc>
                        <a:spcAft>
                          <a:spcPts val="800"/>
                        </a:spcAft>
                      </a:pPr>
                      <a:r>
                        <a:rPr lang="en-PH" sz="1600" kern="100">
                          <a:effectLst/>
                        </a:rPr>
                        <a:t>Proficient (3)</a:t>
                      </a:r>
                      <a:endParaRPr lang="en-PH" sz="2700" kern="10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tc>
                  <a:txBody>
                    <a:bodyPr/>
                    <a:lstStyle/>
                    <a:p>
                      <a:pPr algn="just">
                        <a:lnSpc>
                          <a:spcPct val="107000"/>
                        </a:lnSpc>
                        <a:spcAft>
                          <a:spcPts val="800"/>
                        </a:spcAft>
                      </a:pPr>
                      <a:r>
                        <a:rPr lang="en-PH" sz="1600" kern="100" dirty="0">
                          <a:effectLst/>
                        </a:rPr>
                        <a:t>The answer is mostly clear but may have some confusing parts. (4 </a:t>
                      </a:r>
                      <a:endParaRPr lang="en-PH" sz="2700" kern="100" dirty="0">
                        <a:effectLst/>
                      </a:endParaRPr>
                    </a:p>
                    <a:p>
                      <a:pPr algn="just">
                        <a:lnSpc>
                          <a:spcPct val="107000"/>
                        </a:lnSpc>
                        <a:spcAft>
                          <a:spcPts val="800"/>
                        </a:spcAft>
                      </a:pPr>
                      <a:r>
                        <a:rPr lang="en-PH" sz="1600" kern="100" dirty="0">
                          <a:effectLst/>
                        </a:rPr>
                        <a:t>points)</a:t>
                      </a:r>
                      <a:endParaRPr lang="en-PH" sz="2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extLst>
                  <a:ext uri="{0D108BD9-81ED-4DB2-BD59-A6C34878D82A}">
                    <a16:rowId xmlns:a16="http://schemas.microsoft.com/office/drawing/2014/main" val="2734659184"/>
                  </a:ext>
                </a:extLst>
              </a:tr>
              <a:tr h="937222">
                <a:tc>
                  <a:txBody>
                    <a:bodyPr/>
                    <a:lstStyle/>
                    <a:p>
                      <a:pPr algn="ctr">
                        <a:lnSpc>
                          <a:spcPct val="107000"/>
                        </a:lnSpc>
                        <a:spcAft>
                          <a:spcPts val="800"/>
                        </a:spcAft>
                      </a:pPr>
                      <a:r>
                        <a:rPr lang="en-PH" sz="1600" kern="100">
                          <a:effectLst/>
                        </a:rPr>
                        <a:t>Satisfactory (2)</a:t>
                      </a:r>
                      <a:endParaRPr lang="en-PH" sz="2700" kern="10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tc>
                  <a:txBody>
                    <a:bodyPr/>
                    <a:lstStyle/>
                    <a:p>
                      <a:pPr algn="just">
                        <a:lnSpc>
                          <a:spcPct val="107000"/>
                        </a:lnSpc>
                        <a:spcAft>
                          <a:spcPts val="800"/>
                        </a:spcAft>
                      </a:pPr>
                      <a:r>
                        <a:rPr lang="en-PH" sz="1600" kern="100">
                          <a:effectLst/>
                        </a:rPr>
                        <a:t>The answer is hard to understand and lacks detail. (3 points)</a:t>
                      </a:r>
                      <a:endParaRPr lang="en-PH" sz="2700" kern="10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extLst>
                  <a:ext uri="{0D108BD9-81ED-4DB2-BD59-A6C34878D82A}">
                    <a16:rowId xmlns:a16="http://schemas.microsoft.com/office/drawing/2014/main" val="2689408580"/>
                  </a:ext>
                </a:extLst>
              </a:tr>
              <a:tr h="937222">
                <a:tc>
                  <a:txBody>
                    <a:bodyPr/>
                    <a:lstStyle/>
                    <a:p>
                      <a:pPr algn="ctr">
                        <a:lnSpc>
                          <a:spcPct val="107000"/>
                        </a:lnSpc>
                        <a:spcAft>
                          <a:spcPts val="800"/>
                        </a:spcAft>
                      </a:pPr>
                      <a:r>
                        <a:rPr lang="en-PH" sz="1600" kern="100">
                          <a:effectLst/>
                        </a:rPr>
                        <a:t>Developing (1)</a:t>
                      </a:r>
                      <a:endParaRPr lang="en-PH" sz="2700" kern="10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tc>
                  <a:txBody>
                    <a:bodyPr/>
                    <a:lstStyle/>
                    <a:p>
                      <a:pPr algn="just">
                        <a:lnSpc>
                          <a:spcPct val="107000"/>
                        </a:lnSpc>
                        <a:spcAft>
                          <a:spcPts val="800"/>
                        </a:spcAft>
                      </a:pPr>
                      <a:r>
                        <a:rPr lang="en-PH" sz="1600" kern="100">
                          <a:effectLst/>
                        </a:rPr>
                        <a:t>The answer is difficult to read or doesn't address the topic. (2 points)</a:t>
                      </a:r>
                      <a:endParaRPr lang="en-PH" sz="2700" kern="10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extLst>
                  <a:ext uri="{0D108BD9-81ED-4DB2-BD59-A6C34878D82A}">
                    <a16:rowId xmlns:a16="http://schemas.microsoft.com/office/drawing/2014/main" val="1265791290"/>
                  </a:ext>
                </a:extLst>
              </a:tr>
              <a:tr h="478573">
                <a:tc>
                  <a:txBody>
                    <a:bodyPr/>
                    <a:lstStyle/>
                    <a:p>
                      <a:pPr algn="ctr">
                        <a:lnSpc>
                          <a:spcPct val="107000"/>
                        </a:lnSpc>
                        <a:spcAft>
                          <a:spcPts val="800"/>
                        </a:spcAft>
                      </a:pPr>
                      <a:r>
                        <a:rPr lang="en-PH" sz="1600" kern="100">
                          <a:effectLst/>
                        </a:rPr>
                        <a:t>Beginning (0)</a:t>
                      </a:r>
                      <a:endParaRPr lang="en-PH" sz="2700" kern="10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tc>
                  <a:txBody>
                    <a:bodyPr/>
                    <a:lstStyle/>
                    <a:p>
                      <a:pPr algn="just">
                        <a:lnSpc>
                          <a:spcPct val="107000"/>
                        </a:lnSpc>
                        <a:spcAft>
                          <a:spcPts val="800"/>
                        </a:spcAft>
                      </a:pPr>
                      <a:r>
                        <a:rPr lang="en-PH" sz="1600" kern="100" dirty="0">
                          <a:effectLst/>
                        </a:rPr>
                        <a:t>No attempt to answer (0 points)</a:t>
                      </a:r>
                      <a:endParaRPr lang="en-PH" sz="2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4078" marR="164078" marT="0" marB="0"/>
                </a:tc>
                <a:extLst>
                  <a:ext uri="{0D108BD9-81ED-4DB2-BD59-A6C34878D82A}">
                    <a16:rowId xmlns:a16="http://schemas.microsoft.com/office/drawing/2014/main" val="627849742"/>
                  </a:ext>
                </a:extLst>
              </a:tr>
            </a:tbl>
          </a:graphicData>
        </a:graphic>
      </p:graphicFrame>
    </p:spTree>
    <p:extLst>
      <p:ext uri="{BB962C8B-B14F-4D97-AF65-F5344CB8AC3E}">
        <p14:creationId xmlns:p14="http://schemas.microsoft.com/office/powerpoint/2010/main" val="1587628290"/>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ABD9919-8F5A-4B99-83E1-E90FE1DCF2E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{EE45EEE7-1F66-4CE0-BE4F-62BA219CB022}tf89338750_win32</Template>
  <TotalTime>196</TotalTime>
  <Words>3447</Words>
  <Application>Microsoft Office PowerPoint</Application>
  <PresentationFormat>Widescreen</PresentationFormat>
  <Paragraphs>324</Paragraphs>
  <Slides>84</Slides>
  <Notes>65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84</vt:i4>
      </vt:variant>
    </vt:vector>
  </HeadingPairs>
  <TitlesOfParts>
    <vt:vector size="91" baseType="lpstr">
      <vt:lpstr>Aptos</vt:lpstr>
      <vt:lpstr>Arial</vt:lpstr>
      <vt:lpstr>Calibri</vt:lpstr>
      <vt:lpstr>Cambria Math</vt:lpstr>
      <vt:lpstr>Times New Roman</vt:lpstr>
      <vt:lpstr>Univers</vt:lpstr>
      <vt:lpstr>GradientVTI</vt:lpstr>
      <vt:lpstr>SCIENCE 4</vt:lpstr>
      <vt:lpstr>DAY 1</vt:lpstr>
      <vt:lpstr>Show &amp; Tell: Show the class several pictures of students doing daily tasks like sweeping the floor, wiping the table, arranging the chairs, picking up trash, and other chores. Ask them how these pictures show the previous lesson learned about forces.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motion of a person or an object can be described using the concepts of distance, time, and speed.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DAY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DAY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DAY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3</dc:title>
  <dc:creator>Angelyn Ebuna</dc:creator>
  <cp:lastModifiedBy>AMELYN EBUNA</cp:lastModifiedBy>
  <cp:revision>61</cp:revision>
  <dcterms:created xsi:type="dcterms:W3CDTF">2024-03-25T05:43:05Z</dcterms:created>
  <dcterms:modified xsi:type="dcterms:W3CDTF">2024-11-24T05:42:18Z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